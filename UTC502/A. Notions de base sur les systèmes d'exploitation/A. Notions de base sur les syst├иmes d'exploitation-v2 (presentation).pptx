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4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1" r:id="rId5"/>
    <p:sldMasterId id="2147483674" r:id="rId6"/>
    <p:sldMasterId id="2147483687" r:id="rId7"/>
  </p:sldMasterIdLst>
  <p:notesMasterIdLst>
    <p:notesMasterId r:id="rId38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85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omo" initials="k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109B13-AD41-2AED-AAC7-04B39D8220AC}" v="22" dt="2025-01-27T13:48:03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commentAuthors" Target="commentAuthors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tableStyles" Target="tableStyle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CABOOTER HOLLEMAN Antoine" userId="S::antoine.decabooter-holleman@cfautec.fr::49c268bd-4091-4fd9-8363-5616fa479d0e" providerId="AD" clId="Web-{1BAE4215-E8A3-70AF-5AA5-3E4AB08DD334}"/>
    <pc:docChg chg="modSld">
      <pc:chgData name="DECABOOTER HOLLEMAN Antoine" userId="S::antoine.decabooter-holleman@cfautec.fr::49c268bd-4091-4fd9-8363-5616fa479d0e" providerId="AD" clId="Web-{1BAE4215-E8A3-70AF-5AA5-3E4AB08DD334}" dt="2025-01-20T18:23:50.774" v="0" actId="1076"/>
      <pc:docMkLst>
        <pc:docMk/>
      </pc:docMkLst>
      <pc:sldChg chg="modSp">
        <pc:chgData name="DECABOOTER HOLLEMAN Antoine" userId="S::antoine.decabooter-holleman@cfautec.fr::49c268bd-4091-4fd9-8363-5616fa479d0e" providerId="AD" clId="Web-{1BAE4215-E8A3-70AF-5AA5-3E4AB08DD334}" dt="2025-01-20T18:23:50.774" v="0" actId="1076"/>
        <pc:sldMkLst>
          <pc:docMk/>
          <pc:sldMk cId="0" sldId="260"/>
        </pc:sldMkLst>
        <pc:picChg chg="mod">
          <ac:chgData name="DECABOOTER HOLLEMAN Antoine" userId="S::antoine.decabooter-holleman@cfautec.fr::49c268bd-4091-4fd9-8363-5616fa479d0e" providerId="AD" clId="Web-{1BAE4215-E8A3-70AF-5AA5-3E4AB08DD334}" dt="2025-01-20T18:23:50.774" v="0" actId="1076"/>
          <ac:picMkLst>
            <pc:docMk/>
            <pc:sldMk cId="0" sldId="260"/>
            <ac:picMk id="187" creationId="{00000000-0000-0000-0000-000000000000}"/>
          </ac:picMkLst>
        </pc:picChg>
      </pc:sldChg>
    </pc:docChg>
  </pc:docChgLst>
  <pc:docChgLst>
    <pc:chgData name="MILROY Fabien" userId="S::fabien.milroy@cfautec.fr::e1e7ab5d-0b25-4a20-9c2e-42e5effc18ed" providerId="AD" clId="Web-{09413925-019D-3BD9-D2D1-22C560B8DD04}"/>
    <pc:docChg chg="modSld">
      <pc:chgData name="MILROY Fabien" userId="S::fabien.milroy@cfautec.fr::e1e7ab5d-0b25-4a20-9c2e-42e5effc18ed" providerId="AD" clId="Web-{09413925-019D-3BD9-D2D1-22C560B8DD04}" dt="2024-11-05T08:10:12.976" v="0" actId="14100"/>
      <pc:docMkLst>
        <pc:docMk/>
      </pc:docMkLst>
      <pc:sldChg chg="modSp">
        <pc:chgData name="MILROY Fabien" userId="S::fabien.milroy@cfautec.fr::e1e7ab5d-0b25-4a20-9c2e-42e5effc18ed" providerId="AD" clId="Web-{09413925-019D-3BD9-D2D1-22C560B8DD04}" dt="2024-11-05T08:10:12.976" v="0" actId="14100"/>
        <pc:sldMkLst>
          <pc:docMk/>
          <pc:sldMk cId="0" sldId="280"/>
        </pc:sldMkLst>
        <pc:spChg chg="mod">
          <ac:chgData name="MILROY Fabien" userId="S::fabien.milroy@cfautec.fr::e1e7ab5d-0b25-4a20-9c2e-42e5effc18ed" providerId="AD" clId="Web-{09413925-019D-3BD9-D2D1-22C560B8DD04}" dt="2024-11-05T08:10:12.976" v="0" actId="14100"/>
          <ac:spMkLst>
            <pc:docMk/>
            <pc:sldMk cId="0" sldId="280"/>
            <ac:spMk id="278" creationId="{00000000-0000-0000-0000-000000000000}"/>
          </ac:spMkLst>
        </pc:spChg>
      </pc:sldChg>
    </pc:docChg>
  </pc:docChgLst>
  <pc:docChgLst>
    <pc:chgData name="FARES Sofiane" userId="S::sofiane.fares@cfautec.fr::0d6a3df5-ef8c-450a-9190-766cf379a7e7" providerId="AD" clId="Web-{271499ED-4540-415B-AFF2-AF76AB4BA71F}"/>
    <pc:docChg chg="modSld">
      <pc:chgData name="FARES Sofiane" userId="S::sofiane.fares@cfautec.fr::0d6a3df5-ef8c-450a-9190-766cf379a7e7" providerId="AD" clId="Web-{271499ED-4540-415B-AFF2-AF76AB4BA71F}" dt="2023-11-30T09:27:42.543" v="1" actId="1076"/>
      <pc:docMkLst>
        <pc:docMk/>
      </pc:docMkLst>
      <pc:sldChg chg="modSp">
        <pc:chgData name="FARES Sofiane" userId="S::sofiane.fares@cfautec.fr::0d6a3df5-ef8c-450a-9190-766cf379a7e7" providerId="AD" clId="Web-{271499ED-4540-415B-AFF2-AF76AB4BA71F}" dt="2023-11-30T09:27:42.543" v="1" actId="1076"/>
        <pc:sldMkLst>
          <pc:docMk/>
          <pc:sldMk cId="0" sldId="282"/>
        </pc:sldMkLst>
        <pc:spChg chg="mod">
          <ac:chgData name="FARES Sofiane" userId="S::sofiane.fares@cfautec.fr::0d6a3df5-ef8c-450a-9190-766cf379a7e7" providerId="AD" clId="Web-{271499ED-4540-415B-AFF2-AF76AB4BA71F}" dt="2023-11-30T09:27:42.543" v="1" actId="1076"/>
          <ac:spMkLst>
            <pc:docMk/>
            <pc:sldMk cId="0" sldId="282"/>
            <ac:spMk id="291" creationId="{00000000-0000-0000-0000-000000000000}"/>
          </ac:spMkLst>
        </pc:spChg>
      </pc:sldChg>
    </pc:docChg>
  </pc:docChgLst>
  <pc:docChgLst>
    <pc:chgData name="OZTURK Erkin" userId="S::erkin.ozturk@cfautec.fr::11695f7e-cdc6-49dd-a3e6-ac103d1fd680" providerId="AD" clId="Web-{58388C27-4967-4C38-89A9-389F07B1FF5A}"/>
    <pc:docChg chg="addSld delSld">
      <pc:chgData name="OZTURK Erkin" userId="S::erkin.ozturk@cfautec.fr::11695f7e-cdc6-49dd-a3e6-ac103d1fd680" providerId="AD" clId="Web-{58388C27-4967-4C38-89A9-389F07B1FF5A}" dt="2023-11-17T10:39:07.739" v="1"/>
      <pc:docMkLst>
        <pc:docMk/>
      </pc:docMkLst>
      <pc:sldChg chg="new del">
        <pc:chgData name="OZTURK Erkin" userId="S::erkin.ozturk@cfautec.fr::11695f7e-cdc6-49dd-a3e6-ac103d1fd680" providerId="AD" clId="Web-{58388C27-4967-4C38-89A9-389F07B1FF5A}" dt="2023-11-17T10:39:07.739" v="1"/>
        <pc:sldMkLst>
          <pc:docMk/>
          <pc:sldMk cId="336602265" sldId="285"/>
        </pc:sldMkLst>
      </pc:sldChg>
    </pc:docChg>
  </pc:docChgLst>
  <pc:docChgLst>
    <pc:chgData name="FARES Sofiane" userId="S::sofiane.fares@cfautec.fr::0d6a3df5-ef8c-450a-9190-766cf379a7e7" providerId="AD" clId="Web-{603CCE2C-18E3-4F4A-B570-D16B466958B6}"/>
    <pc:docChg chg="modSld">
      <pc:chgData name="FARES Sofiane" userId="S::sofiane.fares@cfautec.fr::0d6a3df5-ef8c-450a-9190-766cf379a7e7" providerId="AD" clId="Web-{603CCE2C-18E3-4F4A-B570-D16B466958B6}" dt="2023-11-17T08:32:29.311" v="1" actId="20577"/>
      <pc:docMkLst>
        <pc:docMk/>
      </pc:docMkLst>
      <pc:sldChg chg="modSp">
        <pc:chgData name="FARES Sofiane" userId="S::sofiane.fares@cfautec.fr::0d6a3df5-ef8c-450a-9190-766cf379a7e7" providerId="AD" clId="Web-{603CCE2C-18E3-4F4A-B570-D16B466958B6}" dt="2023-11-17T08:32:29.311" v="1" actId="20577"/>
        <pc:sldMkLst>
          <pc:docMk/>
          <pc:sldMk cId="0" sldId="259"/>
        </pc:sldMkLst>
        <pc:spChg chg="mod">
          <ac:chgData name="FARES Sofiane" userId="S::sofiane.fares@cfautec.fr::0d6a3df5-ef8c-450a-9190-766cf379a7e7" providerId="AD" clId="Web-{603CCE2C-18E3-4F4A-B570-D16B466958B6}" dt="2023-11-17T08:32:29.311" v="1" actId="20577"/>
          <ac:spMkLst>
            <pc:docMk/>
            <pc:sldMk cId="0" sldId="259"/>
            <ac:spMk id="178" creationId="{00000000-0000-0000-0000-000000000000}"/>
          </ac:spMkLst>
        </pc:spChg>
      </pc:sldChg>
    </pc:docChg>
  </pc:docChgLst>
  <pc:docChgLst>
    <pc:chgData name="MILROY Fabien" userId="S::fabien.milroy@cfautec.fr::e1e7ab5d-0b25-4a20-9c2e-42e5effc18ed" providerId="AD" clId="Web-{6E109B13-AD41-2AED-AAC7-04B39D8220AC}"/>
    <pc:docChg chg="addSld modSld">
      <pc:chgData name="MILROY Fabien" userId="S::fabien.milroy@cfautec.fr::e1e7ab5d-0b25-4a20-9c2e-42e5effc18ed" providerId="AD" clId="Web-{6E109B13-AD41-2AED-AAC7-04B39D8220AC}" dt="2025-01-27T13:48:03.297" v="21"/>
      <pc:docMkLst>
        <pc:docMk/>
      </pc:docMkLst>
      <pc:sldChg chg="delSp modSp">
        <pc:chgData name="MILROY Fabien" userId="S::fabien.milroy@cfautec.fr::e1e7ab5d-0b25-4a20-9c2e-42e5effc18ed" providerId="AD" clId="Web-{6E109B13-AD41-2AED-AAC7-04B39D8220AC}" dt="2025-01-27T13:10:21.957" v="20" actId="20577"/>
        <pc:sldMkLst>
          <pc:docMk/>
          <pc:sldMk cId="0" sldId="267"/>
        </pc:sldMkLst>
        <pc:spChg chg="mod">
          <ac:chgData name="MILROY Fabien" userId="S::fabien.milroy@cfautec.fr::e1e7ab5d-0b25-4a20-9c2e-42e5effc18ed" providerId="AD" clId="Web-{6E109B13-AD41-2AED-AAC7-04B39D8220AC}" dt="2025-01-27T13:10:21.957" v="20" actId="20577"/>
          <ac:spMkLst>
            <pc:docMk/>
            <pc:sldMk cId="0" sldId="267"/>
            <ac:spMk id="215" creationId="{00000000-0000-0000-0000-000000000000}"/>
          </ac:spMkLst>
        </pc:spChg>
        <pc:picChg chg="del">
          <ac:chgData name="MILROY Fabien" userId="S::fabien.milroy@cfautec.fr::e1e7ab5d-0b25-4a20-9c2e-42e5effc18ed" providerId="AD" clId="Web-{6E109B13-AD41-2AED-AAC7-04B39D8220AC}" dt="2025-01-27T12:43:05.474" v="0"/>
          <ac:picMkLst>
            <pc:docMk/>
            <pc:sldMk cId="0" sldId="267"/>
            <ac:picMk id="3" creationId="{00000000-0000-0000-0000-000000000000}"/>
          </ac:picMkLst>
        </pc:picChg>
      </pc:sldChg>
      <pc:sldChg chg="new">
        <pc:chgData name="MILROY Fabien" userId="S::fabien.milroy@cfautec.fr::e1e7ab5d-0b25-4a20-9c2e-42e5effc18ed" providerId="AD" clId="Web-{6E109B13-AD41-2AED-AAC7-04B39D8220AC}" dt="2025-01-27T13:48:03.297" v="21"/>
        <pc:sldMkLst>
          <pc:docMk/>
          <pc:sldMk cId="640696711" sldId="285"/>
        </pc:sldMkLst>
      </pc:sldChg>
    </pc:docChg>
  </pc:docChgLst>
  <pc:docChgLst>
    <pc:chgData name="MVAKANGA Anthony" userId="S::anthony.mvakanga@cfautec.fr::779b8f73-5303-4486-8fc1-37079f265464" providerId="AD" clId="Web-{21EC9453-B267-4E02-91BA-7A89DB1D15FB}"/>
    <pc:docChg chg="modSld">
      <pc:chgData name="MVAKANGA Anthony" userId="S::anthony.mvakanga@cfautec.fr::779b8f73-5303-4486-8fc1-37079f265464" providerId="AD" clId="Web-{21EC9453-B267-4E02-91BA-7A89DB1D15FB}" dt="2023-11-17T08:49:43.181" v="0" actId="1076"/>
      <pc:docMkLst>
        <pc:docMk/>
      </pc:docMkLst>
      <pc:sldChg chg="modSp">
        <pc:chgData name="MVAKANGA Anthony" userId="S::anthony.mvakanga@cfautec.fr::779b8f73-5303-4486-8fc1-37079f265464" providerId="AD" clId="Web-{21EC9453-B267-4E02-91BA-7A89DB1D15FB}" dt="2023-11-17T08:49:43.181" v="0" actId="1076"/>
        <pc:sldMkLst>
          <pc:docMk/>
          <pc:sldMk cId="0" sldId="263"/>
        </pc:sldMkLst>
        <pc:picChg chg="mod">
          <ac:chgData name="MVAKANGA Anthony" userId="S::anthony.mvakanga@cfautec.fr::779b8f73-5303-4486-8fc1-37079f265464" providerId="AD" clId="Web-{21EC9453-B267-4E02-91BA-7A89DB1D15FB}" dt="2023-11-17T08:49:43.181" v="0" actId="1076"/>
          <ac:picMkLst>
            <pc:docMk/>
            <pc:sldMk cId="0" sldId="263"/>
            <ac:picMk id="202" creationId="{00000000-0000-0000-0000-000000000000}"/>
          </ac:picMkLst>
        </pc:picChg>
      </pc:sldChg>
    </pc:docChg>
  </pc:docChgLst>
  <pc:docChgLst>
    <pc:chgData name="CHEVALIER Thomas" userId="S::thomas.chevalier@cfautec.fr::487ab936-b7a8-47aa-bdd0-58a3601a138e" providerId="AD" clId="Web-{B2DF7A9A-016E-4F86-A36B-1537D59E8CB7}"/>
    <pc:docChg chg="addSld delSld">
      <pc:chgData name="CHEVALIER Thomas" userId="S::thomas.chevalier@cfautec.fr::487ab936-b7a8-47aa-bdd0-58a3601a138e" providerId="AD" clId="Web-{B2DF7A9A-016E-4F86-A36B-1537D59E8CB7}" dt="2023-11-30T07:45:38.917" v="1"/>
      <pc:docMkLst>
        <pc:docMk/>
      </pc:docMkLst>
      <pc:sldChg chg="new del">
        <pc:chgData name="CHEVALIER Thomas" userId="S::thomas.chevalier@cfautec.fr::487ab936-b7a8-47aa-bdd0-58a3601a138e" providerId="AD" clId="Web-{B2DF7A9A-016E-4F86-A36B-1537D59E8CB7}" dt="2023-11-30T07:45:38.917" v="1"/>
        <pc:sldMkLst>
          <pc:docMk/>
          <pc:sldMk cId="2845360172" sldId="285"/>
        </pc:sldMkLst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11-17T00:17:02.959" idx="1">
    <p:pos x="0" y="0"/>
    <p:text/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11-17T00:17:02.959" idx="2">
    <p:pos x="0" y="0"/>
    <p:text/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11-17T00:17:02.974" idx="3">
    <p:pos x="0" y="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fr-FR" sz="4400" b="0" strike="noStrike" spc="-1">
                <a:solidFill>
                  <a:srgbClr val="000000"/>
                </a:solidFill>
                <a:latin typeface="Arial" panose="020B0604020202020204"/>
              </a:rPr>
              <a:t>Click to move the slide</a:t>
            </a: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Click to edit the notes format</a:t>
            </a:r>
          </a:p>
        </p:txBody>
      </p:sp>
      <p:sp>
        <p:nvSpPr>
          <p:cNvPr id="16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&lt;header&gt;</a:t>
            </a:r>
          </a:p>
        </p:txBody>
      </p:sp>
      <p:sp>
        <p:nvSpPr>
          <p:cNvPr id="167" name="PlaceHolder 4"/>
          <p:cNvSpPr>
            <a:spLocks noGrp="1"/>
          </p:cNvSpPr>
          <p:nvPr>
            <p:ph type="dt" idx="1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  <p:sp>
        <p:nvSpPr>
          <p:cNvPr id="168" name="PlaceHolder 5"/>
          <p:cNvSpPr>
            <a:spLocks noGrp="1"/>
          </p:cNvSpPr>
          <p:nvPr>
            <p:ph type="ftr" idx="1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169" name="PlaceHolder 6"/>
          <p:cNvSpPr>
            <a:spLocks noGrp="1"/>
          </p:cNvSpPr>
          <p:nvPr>
            <p:ph type="sldNum" idx="1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buNone/>
            </a:pPr>
            <a:fld id="{5A1179D9-AA6B-41C8-A822-93D0B62080AF}" type="slidenum"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‹#›</a:t>
            </a:fld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15975" y="781050"/>
            <a:ext cx="5172075" cy="3878263"/>
          </a:xfr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9360">
            <a:noFill/>
          </a:ln>
        </p:spPr>
        <p:txBody>
          <a:bodyPr anchor="t">
            <a:noAutofit/>
          </a:bodyPr>
          <a:lstStyle/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La mémoire centrale est un module de stockage de l’information dont la valeur est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codée sur des mots. 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L’information est accessible par mot.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La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capacité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stockage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de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la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mémoire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est définie comme étant le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nombre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mots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constituant celle-ci. 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Dans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l’exemple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de la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figure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, notre mémoire a une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capacité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8 mots de 16 bits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chacun. 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On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exprime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également cette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capacité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en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nombre d’octets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ou de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bits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. 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Notre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mémoire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a donc une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capacité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16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octets ou de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128 bits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. 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9360">
            <a:noFill/>
          </a:ln>
        </p:spPr>
        <p:txBody>
          <a:bodyPr anchor="t">
            <a:noAutofit/>
          </a:bodyPr>
          <a:lstStyle/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bus d’adresses transporte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des combinaisons de signaux qui sont interprétées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comme des nombres entiers représentant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l’adresse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d’un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mot mémoire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. Par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exemple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,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figure, le bus d’adresses a une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largeur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3 fils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 et est donc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capable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coder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des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adresses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allant de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0 à 7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. Pour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adresser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un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mot mémoire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on fait appel à un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circuit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sélection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(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décodeur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)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. donc de sélectionner un mot mémoire dans la mémoire centrale. La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largeur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du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bus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d’adresses définit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la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capacité d’adressage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du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microprocesseur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et il ne faut pas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confondre capacité d’adressage et taille physique de la mémoire;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bus de données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 permet l’échange des informations (les contenus) entre les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différents modules. Dans notre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exemple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le bus de données a une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largeur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16 fils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et donc la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taille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des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mots mémoires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auxquels on peut accéder ou dont on peut modifier le contenu est de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16 bits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;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>
              <a:lnSpc>
                <a:spcPct val="100000"/>
              </a:lnSpc>
              <a:buNone/>
            </a:pP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9360">
            <a:noFill/>
          </a:ln>
        </p:spPr>
        <p:txBody>
          <a:bodyPr anchor="t">
            <a:noAutofit/>
          </a:bodyPr>
          <a:lstStyle/>
          <a:p>
            <a:pPr marL="2159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Sur cette figure, le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bus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 d’adresses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a une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largeur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m bits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, le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bus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données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une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largeur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p bits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ce qui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détermine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la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capacité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stockage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en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bits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cette mémoire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, soit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2^m mots de p bits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. Le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bus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commandes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permet 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déterminer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type d’opération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(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lecture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ou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écriture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) que l’on souhaite réaliser.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9360">
            <a:noFill/>
          </a:ln>
        </p:spPr>
        <p:txBody>
          <a:bodyPr anchor="t">
            <a:noAutofit/>
          </a:bodyPr>
          <a:lstStyle/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Ainsi lorsque le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processeur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doit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exécuter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une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instruction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il :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place le contenu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du registre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CO dans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le registre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RAD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via le bus d’adresses et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l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e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circuit de sélection;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déclenche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une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commande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lecture mémoire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via le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bus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commandes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;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reçoit dans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le registre de données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RDO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, via le bus de données,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l’instruction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;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place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contenu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du registre de données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RDO dans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le registre instruction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RI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via le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bus interne du microprocesseur.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>
              <a:lnSpc>
                <a:spcPct val="100000"/>
              </a:lnSpc>
              <a:buNone/>
            </a:pP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Pour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lire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une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donnée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processeur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: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place l’adresse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de la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donnée dans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le registre d’adresses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RAD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;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déclenche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une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commande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lecture mémoire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;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reçoit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la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donnée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dans le registre de données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RDO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;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place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contenu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RDO dans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un des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registres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du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microprocesseur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(registres généraux ou registres d’entrée de l’UAL).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000" b="1" strike="noStrike" spc="-1">
                <a:solidFill>
                  <a:srgbClr val="FF0000"/>
                </a:solidFill>
                <a:latin typeface="Arial" panose="020B0604020202020204"/>
              </a:rPr>
              <a:t>Voir le TD sur le chemin de données.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9360">
            <a:noFill/>
          </a:ln>
        </p:spPr>
        <p:txBody>
          <a:bodyPr anchor="t">
            <a:noAutofit/>
          </a:bodyPr>
          <a:lstStyle/>
          <a:p>
            <a:pPr marL="215900" indent="0">
              <a:lnSpc>
                <a:spcPct val="120000"/>
              </a:lnSpc>
              <a:spcBef>
                <a:spcPts val="240"/>
              </a:spcBef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Les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différentes phases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l’exécution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d’une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instruction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sont les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suivantes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: </a:t>
            </a:r>
          </a:p>
          <a:p>
            <a:pPr marL="215900" lvl="1" indent="-215900">
              <a:lnSpc>
                <a:spcPct val="120000"/>
              </a:lnSpc>
              <a:spcBef>
                <a:spcPts val="240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le contenu du compteur ordinal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CO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est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placé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dans le registre d’adresses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RAD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: il y a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sélection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l’instruction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à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exécuter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;</a:t>
            </a:r>
          </a:p>
          <a:p>
            <a:pPr marL="215900" lvl="1" indent="-215900">
              <a:lnSpc>
                <a:spcPct val="120000"/>
              </a:lnSpc>
              <a:spcBef>
                <a:spcPts val="240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une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commande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lecture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la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mémoire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centrale est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déclenchée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via le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bus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commandes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; </a:t>
            </a:r>
          </a:p>
          <a:p>
            <a:pPr marL="215900" lvl="1" indent="-215900">
              <a:lnSpc>
                <a:spcPct val="120000"/>
              </a:lnSpc>
              <a:spcBef>
                <a:spcPts val="240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l’instruction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est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transférée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la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mémoire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centrale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vers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le registre instruction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RI via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bus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données et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le registre de données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RDO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; </a:t>
            </a:r>
          </a:p>
          <a:p>
            <a:pPr marL="215900" lvl="1" indent="-215900">
              <a:lnSpc>
                <a:spcPct val="120000"/>
              </a:lnSpc>
              <a:spcBef>
                <a:spcPts val="240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décodeur analyse l’instruction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placée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dans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le registre instruction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RI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, reconnaît cette instruction et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indique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au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séquenceur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la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nature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l’instruction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;</a:t>
            </a:r>
          </a:p>
          <a:p>
            <a:pPr marL="215900" lvl="1" indent="-215900">
              <a:lnSpc>
                <a:spcPct val="120000"/>
              </a:lnSpc>
              <a:spcBef>
                <a:spcPts val="240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séquenceur déclenche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au rythme de l’horloge la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séquence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micro-instructions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nécessaires à la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réalisation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l’instruction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.</a:t>
            </a:r>
          </a:p>
          <a:p>
            <a:pPr marL="215900" indent="0">
              <a:lnSpc>
                <a:spcPct val="100000"/>
              </a:lnSpc>
              <a:buNone/>
              <a:tabLst>
                <a:tab pos="0" algn="l"/>
              </a:tabLst>
            </a:pP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9360">
            <a:noFill/>
          </a:ln>
        </p:spPr>
        <p:txBody>
          <a:bodyPr anchor="t">
            <a:noAutofit/>
          </a:bodyPr>
          <a:lstStyle/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Dans ce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schéma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tous les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périphériques signalent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un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événement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au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processeur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par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le biais d’une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ligne d’interruption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unique en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positionnant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signal INTR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. 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processeur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, par le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signal INTA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,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indique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au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périphérique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que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l’événement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a été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reçu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et qu’il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va être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pris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en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compte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. 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processeur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prévenu d’un signal d’interruption (INTR) sait qu’il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doit lire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bus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communication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pour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connaître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la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nature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l’interruption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. </a:t>
            </a: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processeur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peut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exécuter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programme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spécifique 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traitement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. </a:t>
            </a: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Ce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mécanisme implique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des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aspects matériels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(mise en place du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signal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) et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logiciels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(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programmes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reconnaissance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et 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traitement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). </a:t>
            </a: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On voit donc que la prise en compte de ce mécanisme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implique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la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coexistence simultanée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en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mémoire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plusieurs programmes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machine. Les uns sont 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type système d’exploitation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(les programmes de traitement des interruptions), les autres 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type utilisateur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885840"/>
          </a:xfrm>
          <a:prstGeom prst="rect">
            <a:avLst/>
          </a:prstGeom>
          <a:noFill/>
          <a:ln w="9360">
            <a:noFill/>
          </a:ln>
        </p:spPr>
        <p:txBody>
          <a:bodyPr anchor="t">
            <a:noAutofit/>
          </a:bodyPr>
          <a:lstStyle/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Chaque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ressource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a ses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propriétés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et son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mode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gestion déterminé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par le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constructeur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de la machine. Ainsi par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exemple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, tel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périphérique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est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géré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par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interruption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alors qu’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un autre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 est géré par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DMA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. Se servir de la machine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physique et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utiliser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à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travers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un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programme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ses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ressources nécessitent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connaître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les particularités 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gestion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chacune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des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ressources physiques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utilisées. Cela est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évidemment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très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fastidieux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et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compliqué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pour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l’utilisateur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la machine.</a:t>
            </a:r>
          </a:p>
          <a:p>
            <a:pPr indent="0">
              <a:lnSpc>
                <a:spcPct val="100000"/>
              </a:lnSpc>
              <a:buNone/>
            </a:pP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Faciliter l’accès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à la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machine physique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constitue le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second rôle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du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système d’exploitation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. Par le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biais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d’une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interface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haut niveau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,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composée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d’un ensemble 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primitives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attachées à des fonctionnalités qui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gèrent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elles-mêmes les caractéristiques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matérielles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sous-jacentes et offrent un service à l’utilisateur, le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système d’exploitation construit au-dessus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de la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machine physique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, une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machine virtuelle plus simple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d’emploi et plus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conviviale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. Ainsi, pour réaliser une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opération d’entrées-sorties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,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l’utilisateur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fera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appel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à une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même primitive </a:t>
            </a:r>
            <a:r>
              <a:rPr lang="fr-FR" sz="2000" b="1" i="1" strike="noStrike" spc="-1">
                <a:solidFill>
                  <a:srgbClr val="000000"/>
                </a:solidFill>
                <a:latin typeface="Arial" panose="020B0604020202020204"/>
              </a:rPr>
              <a:t>ECRIRE(données)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quel que soit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le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périphérique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concerné. C’est la primitive ECRIRE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et la fonction de gestion des entrées-sorties du système d’exploitation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à laquelle cette primitive est rattachée qui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feront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la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liaison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avec les caractéristiques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matérielles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. On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appelle driver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une telle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fonction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gestion d’entrées-sorties rattachée à un périphérique spécifique.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lvl="8"/>
            <a:r>
              <a:rPr lang="en-US" sz="1200"/>
              <a:t>The first demo interrupt program </a:t>
            </a:r>
            <a:r>
              <a:rPr lang="en-US" sz="1200" b="1"/>
              <a:t>does two things</a:t>
            </a:r>
            <a:r>
              <a:rPr lang="en-US" sz="1200"/>
              <a:t>. In the </a:t>
            </a:r>
            <a:r>
              <a:rPr lang="en-US" sz="1200" b="1"/>
              <a:t>main </a:t>
            </a:r>
            <a:r>
              <a:rPr lang="en-US" sz="1200"/>
              <a:t>event loop, the AVR </a:t>
            </a:r>
            <a:r>
              <a:rPr lang="en-US" sz="1200" b="1"/>
              <a:t>blinks </a:t>
            </a:r>
            <a:r>
              <a:rPr lang="en-US" sz="1200"/>
              <a:t>an LED, </a:t>
            </a:r>
            <a:r>
              <a:rPr lang="en-US" sz="1200" b="1"/>
              <a:t>LED0</a:t>
            </a:r>
            <a:r>
              <a:rPr lang="en-US" sz="1200"/>
              <a:t>, with a delay—a pretty boring main task. In the </a:t>
            </a:r>
            <a:r>
              <a:rPr lang="en-US" sz="1200" b="1"/>
              <a:t>ISR</a:t>
            </a:r>
            <a:r>
              <a:rPr lang="en-US" sz="1200"/>
              <a:t>, which is </a:t>
            </a:r>
            <a:r>
              <a:rPr lang="en-US" sz="1200" b="1"/>
              <a:t>triggered </a:t>
            </a:r>
            <a:r>
              <a:rPr lang="en-US" sz="1200"/>
              <a:t>by the </a:t>
            </a:r>
            <a:r>
              <a:rPr lang="en-US" sz="1200" b="1"/>
              <a:t>INT0 </a:t>
            </a:r>
            <a:r>
              <a:rPr lang="en-US" sz="1200"/>
              <a:t>state </a:t>
            </a:r>
            <a:r>
              <a:rPr lang="en-US" sz="1200" b="1"/>
              <a:t>change interrupt</a:t>
            </a:r>
            <a:r>
              <a:rPr lang="en-US" sz="1200"/>
              <a:t>, we </a:t>
            </a:r>
            <a:r>
              <a:rPr lang="en-US" sz="1200" b="1"/>
              <a:t>turn </a:t>
            </a:r>
            <a:r>
              <a:rPr lang="en-US" sz="1200"/>
              <a:t>on </a:t>
            </a:r>
            <a:r>
              <a:rPr lang="en-US" sz="1200" b="1"/>
              <a:t>another LED depending </a:t>
            </a:r>
            <a:r>
              <a:rPr lang="en-US" sz="1200"/>
              <a:t>on whether the </a:t>
            </a:r>
            <a:r>
              <a:rPr lang="en-US" sz="1200" b="1"/>
              <a:t>button </a:t>
            </a:r>
            <a:r>
              <a:rPr lang="en-US" sz="1200"/>
              <a:t>is </a:t>
            </a:r>
            <a:r>
              <a:rPr lang="en-US" sz="1200" b="1"/>
              <a:t>pressed </a:t>
            </a:r>
            <a:r>
              <a:rPr lang="en-US" sz="1200"/>
              <a:t>or not. Again, that’s pretty lame, but this is our first example with interrupts.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813F899-D537-44A0-9805-CE8AF9842A0A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3C413DA-11A5-42D5-ACA3-43CC6AD8183D}" type="slidenum">
              <a:rPr/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A29705B-7681-4DF6-9C11-F8F1D8579AB9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DF143B8-D6FE-4F47-A03C-C05C8D7D2980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6B457A4-4B6C-4D8A-B8A2-F7156FDD61BA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C96E5E8-B2AB-4F40-8707-CC21D53391EA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F68B8CA-2705-4261-A2D5-7703A9379AF7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0EBF792-D46D-479D-A2D8-4694ECC83DFB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89265B4-10E0-41F7-BD93-95A2CA84D9D3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24D0B8F-A9AB-4842-BD20-B0C16B3BEE66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41DEBAB-420D-4066-B1C0-94CDA2738170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BFFA94D-0924-4590-817A-A63890416ADD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7611A44-17D0-469C-8145-724C07B92147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0D56720-5872-4333-A755-C0C7D1756D6C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C8BD31A-DC35-47C2-82EF-4BF2928AFECF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1485198-A966-48B5-A800-5576EE3C47B8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4061C60-7EE3-416C-903C-6A442DF8F450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C0865F7-8A83-4C5E-85BF-C00CCC59F9C1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A2C64E0-F566-427D-92B8-FFB4A3B48F62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3CCD624-A92A-4260-BC95-F30D34CC317A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5119E40-0589-41D6-9611-C7A2524070F8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0322D8D-B539-4179-A97B-668F6800385E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6B24C7F-45E9-4276-B218-E17B5348F416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B86D67D-CD14-458A-99D0-2FD549B544FB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943C7CC3-F29D-4A45-A4D0-9DDB3991E538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B9BAE1E-A8EB-4CC3-9C60-32FCCA8DFA6B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17EF479D-CDB6-46AE-92BF-949380951BC9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CE13CDCC-7D20-4D91-8E2D-14DF117BFE7A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FB145308-358F-4D9C-B110-9D2101D5825C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73987C12-54E5-426F-9307-915EB7EA9202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F39D39B7-F9EC-4296-A0AE-7B9516E24470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62FEE95F-8DA7-4E84-A9BD-45FD3C7BC332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EB89D0E6-09CD-4654-BBF9-6C3B24A3C0DF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A778155-04CA-45EB-A073-DBBC465191A2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4E2384C-3D5F-4C3F-B790-D955BF94BC07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7DCB5708-C907-4021-AD11-ECFDB719CCA9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6487B7-D365-408B-AE38-C767C85AE06B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8C2808F-B4A1-4E2B-BFA4-C8023F8D5F68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35D227-A678-4092-AE1A-6CD1787B4FBC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C4B400B-4DC4-4502-A3B8-D45D60DCFBDC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A422CFB-9555-4DC8-A1A9-5CA0C53D9589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2238F47-8C63-49C9-9472-9FE259500296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1D5D38C-FE88-4569-A6FD-4C842B10A2BE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E886D0-E1B6-4CDE-91A3-D6B7953B78BB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822CDAA-0562-47B7-BD9B-F9DCF480020B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5E9C1B-FD58-4F0D-96FF-239CA22AA54C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E232745-E92E-4283-BA86-87F70F1FAE2A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1904C2F-117D-40D6-82CB-71141B036F19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143000" y="1122480"/>
            <a:ext cx="6857640" cy="23871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b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Click to edit Master title style</a:t>
            </a:r>
            <a:endParaRPr lang="fr-FR" sz="45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fld id="{BB962C8B-B14F-4D97-AF65-F5344CB8AC3E}" type="datetime1"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1/27/2025</a:t>
            </a:fld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itchFamily="2" charset="2"/>
              <a:buChar char=""/>
            </a:pPr>
            <a:r>
              <a:rPr lang="fr-FR" sz="32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24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Click to edit Master title style</a:t>
            </a: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3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Click to edit Master text styles</a:t>
            </a: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Second level</a:t>
            </a:r>
            <a:endParaRPr lang="fr-FR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Third level</a:t>
            </a:r>
            <a:endParaRPr lang="fr-FR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Fourth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tarSymbo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Fifth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fld id="{BB962C8B-B14F-4D97-AF65-F5344CB8AC3E}" type="datetime1"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1/27/2025</a:t>
            </a:fld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/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Click to edit Master title style</a:t>
            </a: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3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Click to edit Master text styles</a:t>
            </a: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Second level</a:t>
            </a:r>
            <a:endParaRPr lang="fr-FR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Third level</a:t>
            </a:r>
            <a:endParaRPr lang="fr-FR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Fourth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tarSymbo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Fifth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7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fld id="{BB962C8B-B14F-4D97-AF65-F5344CB8AC3E}" type="datetime1"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1/27/2025</a:t>
            </a:fld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ftr" idx="8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sldNum" idx="9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/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Click to edit Master title style</a:t>
            </a: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3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Click to edit Master text styles</a:t>
            </a: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Second level</a:t>
            </a:r>
            <a:endParaRPr lang="fr-FR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Third level</a:t>
            </a:r>
            <a:endParaRPr lang="fr-FR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Fourth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tarSymbo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Fifth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 idx="10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fld id="{BB962C8B-B14F-4D97-AF65-F5344CB8AC3E}" type="datetime1"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1/27/2025</a:t>
            </a:fld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ftr" idx="11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127" name="PlaceHolder 5"/>
          <p:cNvSpPr>
            <a:spLocks noGrp="1"/>
          </p:cNvSpPr>
          <p:nvPr>
            <p:ph type="sldNum" idx="12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hdr="0" ftr="0"/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4" Type="http://schemas.openxmlformats.org/officeDocument/2006/relationships/comments" Target="../comments/commen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4" Type="http://schemas.openxmlformats.org/officeDocument/2006/relationships/comments" Target="../comments/commen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4" Type="http://schemas.openxmlformats.org/officeDocument/2006/relationships/comments" Target="../comments/commen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A. Notions de base sur les systèmes d'exploitation</a:t>
            </a:r>
            <a:endParaRPr lang="fr-FR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Mise en oeuvre de la  protection/isolation : notion d'espace d'adressage, de modes d'exécution user/superviseur, introduction des appels système.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3C413DA-11A5-42D5-ACA3-43CC6AD8183D}" type="slidenum">
              <a:rPr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Sommaire</a:t>
            </a: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457200" y="1268640"/>
            <a:ext cx="8229240" cy="5048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514350" indent="-51435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panose="05050102010706020507" charset="2"/>
              <a:buAutoNum type="arabicPeriod"/>
            </a:pP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Rappels d’architecture des machines</a:t>
            </a:r>
            <a:endParaRPr lang="fr-FR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514350" indent="-51435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panose="05050102010706020507" charset="2"/>
              <a:buAutoNum type="arabicPeriod"/>
            </a:pP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Introduction aux systèmes d’exploitation multiprogrammés</a:t>
            </a:r>
            <a:endParaRPr lang="fr-FR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514350" indent="-51435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panose="05050102010706020507" charset="2"/>
              <a:buAutoNum type="arabicPeriod"/>
            </a:pP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Fonctions d’un système d’exploitation</a:t>
            </a:r>
            <a:endParaRPr lang="fr-FR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514350" indent="-51435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panose="05050102010706020507" charset="2"/>
              <a:buAutoNum type="arabicPeriod"/>
            </a:pP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Notions de base</a:t>
            </a:r>
            <a:endParaRPr lang="fr-FR" sz="1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0">
              <a:lnSpc>
                <a:spcPct val="100000"/>
              </a:lnSpc>
              <a:spcBef>
                <a:spcPts val="280"/>
              </a:spcBef>
              <a:buNone/>
              <a:tabLst>
                <a:tab pos="0" algn="l"/>
              </a:tabLst>
            </a:pP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16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Introduction</a:t>
            </a: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24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système d’exploitation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est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ensemble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programmes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qui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réalise l’interface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entre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matériel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l’ordinateur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et 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utilisateurs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, d’une part afin 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construire au-dessus du matériel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 une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machine virtuelle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plus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facile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d’emploi et plus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conviviale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spcBef>
                <a:spcPts val="24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Prendre en charge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gestion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des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ressources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de la machine et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partage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de celles-ci.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spcBef>
                <a:spcPts val="24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Dans ce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chapitre :</a:t>
            </a:r>
          </a:p>
          <a:p>
            <a:pPr marL="628650" lvl="1" indent="-171450">
              <a:lnSpc>
                <a:spcPct val="100000"/>
              </a:lnSpc>
              <a:spcBef>
                <a:spcPts val="24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nous allons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définir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plus précisément 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rôles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d’un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système d’exploitation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dans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environnement multiprogrammé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et les différentes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fonctions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qui composent ce système d’exploitation. </a:t>
            </a:r>
          </a:p>
          <a:p>
            <a:pPr marL="628650" lvl="1" indent="-171450">
              <a:lnSpc>
                <a:spcPct val="100000"/>
              </a:lnSpc>
              <a:spcBef>
                <a:spcPts val="24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Nous présentons également 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différents types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systèmes d’exploitation </a:t>
            </a:r>
          </a:p>
          <a:p>
            <a:pPr marL="628650" lvl="1" indent="-171450">
              <a:lnSpc>
                <a:spcPct val="100000"/>
              </a:lnSpc>
              <a:spcBef>
                <a:spcPts val="24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Enfin, 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base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sur lesquelles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repose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fonctionnement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système d’exploitation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sont décrites :</a:t>
            </a:r>
          </a:p>
          <a:p>
            <a:pPr marL="1085850" lvl="2" indent="-171450">
              <a:lnSpc>
                <a:spcPct val="100000"/>
              </a:lnSpc>
              <a:spcBef>
                <a:spcPts val="24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Appels système</a:t>
            </a:r>
          </a:p>
          <a:p>
            <a:pPr marL="1085850" lvl="2" indent="-171450">
              <a:lnSpc>
                <a:spcPct val="100000"/>
              </a:lnSpc>
              <a:spcBef>
                <a:spcPts val="24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Modes d’exécutions</a:t>
            </a:r>
          </a:p>
          <a:p>
            <a:pPr marL="1085850" lvl="2" indent="-171450">
              <a:lnSpc>
                <a:spcPct val="100000"/>
              </a:lnSpc>
              <a:spcBef>
                <a:spcPts val="24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 d’interruptions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7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3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tabLst>
                <a:tab pos="0" algn="l"/>
              </a:tabLst>
            </a:pPr>
            <a:br>
              <a:rPr sz="3600"/>
            </a:br>
            <a:r>
              <a:rPr lang="fr-FR" sz="3600" spc="-1">
                <a:solidFill>
                  <a:srgbClr val="000000"/>
                </a:solidFill>
                <a:latin typeface="Arial" panose="020B0604020202020204"/>
                <a:ea typeface="SimSun"/>
              </a:rPr>
              <a:t>Rappels d’architecture</a:t>
            </a: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 des machines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Structure générale de la machine physique</a:t>
            </a:r>
            <a:br>
              <a:rPr sz="36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179" name="Content Placeholder 1" descr="diapos4"/>
          <p:cNvPicPr/>
          <p:nvPr/>
        </p:nvPicPr>
        <p:blipFill>
          <a:blip r:embed="rId3"/>
          <a:stretch>
            <a:fillRect/>
          </a:stretch>
        </p:blipFill>
        <p:spPr>
          <a:xfrm>
            <a:off x="1547495" y="1417320"/>
            <a:ext cx="6588760" cy="4121150"/>
          </a:xfrm>
          <a:prstGeom prst="rect">
            <a:avLst/>
          </a:prstGeom>
          <a:ln w="9525">
            <a:noFill/>
          </a:ln>
        </p:spPr>
      </p:pic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4</a:t>
            </a:r>
          </a:p>
        </p:txBody>
      </p:sp>
      <p:sp>
        <p:nvSpPr>
          <p:cNvPr id="181" name="Text Box 2"/>
          <p:cNvSpPr/>
          <p:nvPr/>
        </p:nvSpPr>
        <p:spPr>
          <a:xfrm>
            <a:off x="3492070" y="5589305"/>
            <a:ext cx="22874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Structure matérielle générale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Rappels d’architecture des machines</a:t>
            </a:r>
            <a:br>
              <a:rPr sz="3600"/>
            </a:b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La mémoire centrale</a:t>
            </a:r>
            <a:br>
              <a:rPr sz="36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sldNum" idx="19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5</a:t>
            </a: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  <a:ea typeface="SimSun"/>
            </a:endParaRPr>
          </a:p>
        </p:txBody>
      </p:sp>
      <p:pic>
        <p:nvPicPr>
          <p:cNvPr id="187" name="Picture 6" descr="diapos5"/>
          <p:cNvPicPr/>
          <p:nvPr/>
        </p:nvPicPr>
        <p:blipFill>
          <a:blip r:embed="rId3"/>
          <a:stretch>
            <a:fillRect/>
          </a:stretch>
        </p:blipFill>
        <p:spPr>
          <a:xfrm>
            <a:off x="1132205" y="1690403"/>
            <a:ext cx="6310630" cy="3907155"/>
          </a:xfrm>
          <a:prstGeom prst="rect">
            <a:avLst/>
          </a:prstGeom>
          <a:ln w="0">
            <a:noFill/>
          </a:ln>
        </p:spPr>
      </p:pic>
      <p:sp>
        <p:nvSpPr>
          <p:cNvPr id="188" name="Text Box 7"/>
          <p:cNvSpPr/>
          <p:nvPr/>
        </p:nvSpPr>
        <p:spPr>
          <a:xfrm>
            <a:off x="3275365" y="5457315"/>
            <a:ext cx="237852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La mémoire centrale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 </a:t>
            </a:r>
            <a:r>
              <a:rPr lang="fr-FR" sz="1200" b="1" strike="noStrike" spc="-1">
                <a:solidFill>
                  <a:srgbClr val="00B050"/>
                </a:solidFill>
                <a:latin typeface="Arial" panose="020B0604020202020204"/>
                <a:ea typeface="SimSun"/>
              </a:rPr>
              <a:t>(note 1)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Rappels d’architecture des machines</a:t>
            </a:r>
            <a:br>
              <a:rPr sz="3600"/>
            </a:b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Le bus de communication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 </a:t>
            </a:r>
            <a:r>
              <a:rPr lang="fr-FR" sz="2000" b="1" strike="noStrike" spc="-1">
                <a:solidFill>
                  <a:srgbClr val="00B050"/>
                </a:solidFill>
                <a:latin typeface="Arial" panose="020B0604020202020204"/>
                <a:ea typeface="SimSun"/>
              </a:rPr>
              <a:t>(note 2)</a:t>
            </a:r>
            <a:br>
              <a:rPr sz="36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sldNum" idx="20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6</a:t>
            </a:r>
          </a:p>
        </p:txBody>
      </p:sp>
      <p:pic>
        <p:nvPicPr>
          <p:cNvPr id="192" name="Picture 1" descr="diapos6"/>
          <p:cNvPicPr/>
          <p:nvPr/>
        </p:nvPicPr>
        <p:blipFill>
          <a:blip r:embed="rId3"/>
          <a:stretch>
            <a:fillRect/>
          </a:stretch>
        </p:blipFill>
        <p:spPr>
          <a:xfrm>
            <a:off x="1907540" y="1484630"/>
            <a:ext cx="5179695" cy="4624705"/>
          </a:xfrm>
          <a:prstGeom prst="rect">
            <a:avLst/>
          </a:prstGeom>
          <a:ln w="0">
            <a:noFill/>
          </a:ln>
        </p:spPr>
      </p:pic>
      <p:sp>
        <p:nvSpPr>
          <p:cNvPr id="193" name="Text Box 2"/>
          <p:cNvSpPr/>
          <p:nvPr/>
        </p:nvSpPr>
        <p:spPr>
          <a:xfrm>
            <a:off x="3561080" y="6093460"/>
            <a:ext cx="1945005" cy="2730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Bus de communication.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Rappels d’architecture des machines</a:t>
            </a:r>
            <a:br>
              <a:rPr sz="3600"/>
            </a:b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Le bus de communication</a:t>
            </a:r>
            <a:br>
              <a:rPr sz="36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sldNum" idx="21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7</a:t>
            </a:r>
          </a:p>
        </p:txBody>
      </p:sp>
      <p:sp>
        <p:nvSpPr>
          <p:cNvPr id="197" name="Text Box 2"/>
          <p:cNvSpPr/>
          <p:nvPr/>
        </p:nvSpPr>
        <p:spPr>
          <a:xfrm>
            <a:off x="2483640" y="5516840"/>
            <a:ext cx="3425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Bus de communication et mémoire centrale.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198" name="Picture 4" descr="diapos7"/>
          <p:cNvPicPr/>
          <p:nvPr/>
        </p:nvPicPr>
        <p:blipFill>
          <a:blip r:embed="rId3"/>
          <a:stretch>
            <a:fillRect/>
          </a:stretch>
        </p:blipFill>
        <p:spPr>
          <a:xfrm>
            <a:off x="539115" y="1535430"/>
            <a:ext cx="8248650" cy="3786505"/>
          </a:xfrm>
          <a:prstGeom prst="rect">
            <a:avLst/>
          </a:prstGeom>
          <a:ln w="0"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Rappels d’architecture des machines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Le processeur central ou microprocesseur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22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8</a:t>
            </a:r>
          </a:p>
        </p:txBody>
      </p:sp>
      <p:pic>
        <p:nvPicPr>
          <p:cNvPr id="202" name="Picture 2" descr="diapos8"/>
          <p:cNvPicPr/>
          <p:nvPr/>
        </p:nvPicPr>
        <p:blipFill>
          <a:blip r:embed="rId2"/>
          <a:stretch>
            <a:fillRect/>
          </a:stretch>
        </p:blipFill>
        <p:spPr>
          <a:xfrm>
            <a:off x="1944149" y="1740078"/>
            <a:ext cx="6581140" cy="3786505"/>
          </a:xfrm>
          <a:prstGeom prst="rect">
            <a:avLst/>
          </a:prstGeom>
          <a:ln w="0">
            <a:noFill/>
          </a:ln>
        </p:spPr>
      </p:pic>
      <p:sp>
        <p:nvSpPr>
          <p:cNvPr id="203" name="Text Box 3"/>
          <p:cNvSpPr/>
          <p:nvPr/>
        </p:nvSpPr>
        <p:spPr>
          <a:xfrm>
            <a:off x="3923685" y="5790455"/>
            <a:ext cx="163332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Le microprocesseur.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BA2890-6093-91F4-41FB-1356D8F7F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CB59616-8C9E-102B-F31D-13435908DAFD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14CACB-9054-EC78-C2D7-A0F7694F58BD}"/>
              </a:ext>
            </a:extLst>
          </p:cNvPr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B9BAE1E-A8EB-4CC3-9C60-32FCCA8DFA6B}" type="slidenum">
              <a:rPr lang="fr-FR"/>
              <a:t>9</a:t>
            </a:fld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E2D7F19-97CA-BF5C-7A50-AFA0D26602BB}"/>
              </a:ext>
            </a:extLst>
          </p:cNvPr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0696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Rappels d’architecture des machines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Le processeur central ou microprocesseur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240"/>
              </a:spcBef>
              <a:buClr>
                <a:srgbClr val="FF0000"/>
              </a:buClr>
              <a:buFont typeface="Symbol" panose="05050102010706020507" charset="2"/>
              <a:buChar char=""/>
            </a:pPr>
            <a:r>
              <a:rPr lang="fr-FR" sz="4400" b="1" strike="noStrike" spc="-1">
                <a:solidFill>
                  <a:srgbClr val="FF0000"/>
                </a:solidFill>
                <a:latin typeface="Arial" panose="020B0604020202020204"/>
                <a:ea typeface="SimSun"/>
              </a:rPr>
              <a:t>Voir notes</a:t>
            </a: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23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9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Rappels d’architecture des machines</a:t>
            </a:r>
            <a:br>
              <a:rPr sz="44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Le processeur central ou microprocesseur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240"/>
              </a:spcBef>
              <a:buClr>
                <a:srgbClr val="FF0000"/>
              </a:buClr>
              <a:buFont typeface="Symbol" panose="05050102010706020507" charset="2"/>
              <a:buChar char=""/>
            </a:pPr>
            <a:r>
              <a:rPr lang="fr-FR" sz="4400" b="1" strike="noStrike">
                <a:solidFill>
                  <a:srgbClr val="FF0000"/>
                </a:solidFill>
                <a:latin typeface="Arial" panose="020B0604020202020204"/>
                <a:ea typeface="SimSun"/>
                <a:sym typeface="+mn-ea"/>
              </a:rPr>
              <a:t>Voir notes</a:t>
            </a: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24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10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95760" y="275040"/>
            <a:ext cx="891180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Rappels d’architecture des machines</a:t>
            </a:r>
            <a:br>
              <a:rPr sz="4400"/>
            </a:b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FONCTIONNEMENT : RELATION MICROPROCESSEUR / MÉMOIRE CENTRALE</a:t>
            </a:r>
            <a:br>
              <a:rPr sz="1800"/>
            </a:br>
            <a:br>
              <a:rPr sz="4400"/>
            </a:b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457200" y="980280"/>
            <a:ext cx="8229240" cy="5263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240"/>
              </a:spcBef>
              <a:buNone/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25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11</a:t>
            </a:r>
          </a:p>
        </p:txBody>
      </p:sp>
      <p:pic>
        <p:nvPicPr>
          <p:cNvPr id="213" name="Picture 1" descr="diapos11"/>
          <p:cNvPicPr/>
          <p:nvPr/>
        </p:nvPicPr>
        <p:blipFill>
          <a:blip r:embed="rId3"/>
          <a:stretch>
            <a:fillRect/>
          </a:stretch>
        </p:blipFill>
        <p:spPr>
          <a:xfrm>
            <a:off x="34925" y="1412875"/>
            <a:ext cx="7697470" cy="4189095"/>
          </a:xfrm>
          <a:prstGeom prst="rect">
            <a:avLst/>
          </a:prstGeom>
          <a:ln w="0">
            <a:noFill/>
          </a:ln>
        </p:spPr>
      </p:pic>
      <p:sp>
        <p:nvSpPr>
          <p:cNvPr id="214" name="Text Box 2"/>
          <p:cNvSpPr/>
          <p:nvPr/>
        </p:nvSpPr>
        <p:spPr>
          <a:xfrm>
            <a:off x="3203655" y="5589140"/>
            <a:ext cx="280332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Exécution d’une instruction.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Rappels d’architecture des machines</a:t>
            </a:r>
            <a:br>
              <a:rPr sz="44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Les unités </a:t>
            </a:r>
            <a:r>
              <a:rPr lang="fr-FR" sz="2000" spc="-1">
                <a:solidFill>
                  <a:srgbClr val="000000"/>
                </a:solidFill>
                <a:latin typeface="Arial" panose="020B0604020202020204"/>
                <a:ea typeface="SimSun"/>
              </a:rPr>
              <a:t>d’échangescwcccxcccccccccccccccccccccccccccccccccccccccccccccccccccccccccxxg;;ù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26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12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  <p:sp>
        <p:nvSpPr>
          <p:cNvPr id="4" name="Text Box 3"/>
          <p:cNvSpPr txBox="1"/>
          <p:nvPr/>
        </p:nvSpPr>
        <p:spPr>
          <a:xfrm>
            <a:off x="3590925" y="5969635"/>
            <a:ext cx="15290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1200" b="1"/>
              <a:t>Unités d’échanges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Rappels d’architecture des machines</a:t>
            </a:r>
            <a:br>
              <a:rPr sz="44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 d’interruptions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27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13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  <p:pic>
        <p:nvPicPr>
          <p:cNvPr id="3" name="Picture 2" descr="Figure 8-1. AVR pinouts—PCINT nam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540" y="3933190"/>
            <a:ext cx="2402205" cy="253809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091055" y="6471285"/>
            <a:ext cx="22186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AVR pinouts</a:t>
            </a:r>
            <a:r>
              <a:rPr lang="fr-FR" altLang="en-US" sz="1000" b="1"/>
              <a:t> - </a:t>
            </a:r>
            <a:r>
              <a:rPr lang="en-US" sz="1000" b="1"/>
              <a:t>PCINT names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6083935" y="4580890"/>
            <a:ext cx="137541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Interrupt vector</a:t>
            </a:r>
          </a:p>
        </p:txBody>
      </p:sp>
      <p:pic>
        <p:nvPicPr>
          <p:cNvPr id="7" name="Picture 6" descr="AVR interrupt vectors (ATmega168_328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05" y="1259840"/>
            <a:ext cx="4019550" cy="263080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-35560" y="3645535"/>
            <a:ext cx="25749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AVR interrupt vectors (ATmega168/328)</a:t>
            </a:r>
          </a:p>
        </p:txBody>
      </p:sp>
      <p:pic>
        <p:nvPicPr>
          <p:cNvPr id="9" name="Picture 8" descr="Pin-change interrup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970" y="1484630"/>
            <a:ext cx="3766185" cy="30333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Rappels d’architecture des machines</a:t>
            </a:r>
            <a:br>
              <a:rPr sz="44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 d’interruptions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28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14</a:t>
            </a:r>
          </a:p>
        </p:txBody>
      </p:sp>
      <p:pic>
        <p:nvPicPr>
          <p:cNvPr id="224" name="Picture 1" descr="diapos14"/>
          <p:cNvPicPr/>
          <p:nvPr/>
        </p:nvPicPr>
        <p:blipFill>
          <a:blip r:embed="rId3"/>
          <a:stretch>
            <a:fillRect/>
          </a:stretch>
        </p:blipFill>
        <p:spPr>
          <a:xfrm>
            <a:off x="1189990" y="1268730"/>
            <a:ext cx="6647815" cy="4385945"/>
          </a:xfrm>
          <a:prstGeom prst="rect">
            <a:avLst/>
          </a:prstGeom>
          <a:ln w="0">
            <a:noFill/>
          </a:ln>
        </p:spPr>
      </p:pic>
      <p:sp>
        <p:nvSpPr>
          <p:cNvPr id="226" name="Text Box 3"/>
          <p:cNvSpPr/>
          <p:nvPr/>
        </p:nvSpPr>
        <p:spPr>
          <a:xfrm>
            <a:off x="2658795" y="5805850"/>
            <a:ext cx="38268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Prise en compte d’une interruption externe.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Rappels d’architecture des machines</a:t>
            </a:r>
            <a:br>
              <a:rPr sz="44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 d’interruptions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29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15</a:t>
            </a:r>
          </a:p>
        </p:txBody>
      </p:sp>
      <p:pic>
        <p:nvPicPr>
          <p:cNvPr id="231" name="Picture 5" descr="diapos15"/>
          <p:cNvPicPr/>
          <p:nvPr/>
        </p:nvPicPr>
        <p:blipFill>
          <a:blip r:embed="rId2"/>
          <a:stretch>
            <a:fillRect/>
          </a:stretch>
        </p:blipFill>
        <p:spPr>
          <a:xfrm>
            <a:off x="1979930" y="1628775"/>
            <a:ext cx="5826760" cy="4165600"/>
          </a:xfrm>
          <a:prstGeom prst="rect">
            <a:avLst/>
          </a:prstGeom>
          <a:ln w="0">
            <a:noFill/>
          </a:ln>
        </p:spPr>
      </p:pic>
      <p:sp>
        <p:nvSpPr>
          <p:cNvPr id="232" name="Text Box 6"/>
          <p:cNvSpPr/>
          <p:nvPr/>
        </p:nvSpPr>
        <p:spPr>
          <a:xfrm>
            <a:off x="3444930" y="5877465"/>
            <a:ext cx="289728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Prise en compte d’une interruption.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Introduction aux systèmes d’exploitation multiprogrammés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 Rôle et définition d’un système d’exploitation multiprogrammé</a:t>
            </a:r>
            <a:b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r>
              <a:rPr lang="fr-FR" sz="2000" b="1" strike="noStrike" spc="-1">
                <a:solidFill>
                  <a:srgbClr val="FF0000"/>
                </a:solidFill>
                <a:latin typeface="Arial" panose="020B0604020202020204"/>
                <a:ea typeface="SimSun"/>
              </a:rPr>
              <a:t>(ICI le mardi 28 mars)</a:t>
            </a:r>
          </a:p>
        </p:txBody>
      </p:sp>
      <p:sp>
        <p:nvSpPr>
          <p:cNvPr id="235" name="PlaceHolder 3"/>
          <p:cNvSpPr>
            <a:spLocks noGrp="1"/>
          </p:cNvSpPr>
          <p:nvPr>
            <p:ph type="sldNum" idx="30"/>
          </p:nvPr>
        </p:nvSpPr>
        <p:spPr>
          <a:xfrm>
            <a:off x="8531860" y="6309360"/>
            <a:ext cx="440055" cy="475615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16</a:t>
            </a:r>
          </a:p>
        </p:txBody>
      </p:sp>
      <p:pic>
        <p:nvPicPr>
          <p:cNvPr id="236" name="Picture 1" descr="diapos16-a"/>
          <p:cNvPicPr/>
          <p:nvPr/>
        </p:nvPicPr>
        <p:blipFill>
          <a:blip r:embed="rId2"/>
          <a:stretch>
            <a:fillRect/>
          </a:stretch>
        </p:blipFill>
        <p:spPr>
          <a:xfrm>
            <a:off x="4509720" y="1917000"/>
            <a:ext cx="4594680" cy="2098800"/>
          </a:xfrm>
          <a:prstGeom prst="rect">
            <a:avLst/>
          </a:prstGeom>
          <a:ln w="0">
            <a:noFill/>
          </a:ln>
        </p:spPr>
      </p:pic>
      <p:pic>
        <p:nvPicPr>
          <p:cNvPr id="239" name="Picture 4" descr="diapos16-b"/>
          <p:cNvPicPr/>
          <p:nvPr/>
        </p:nvPicPr>
        <p:blipFill>
          <a:blip r:embed="rId3"/>
          <a:stretch>
            <a:fillRect/>
          </a:stretch>
        </p:blipFill>
        <p:spPr>
          <a:xfrm>
            <a:off x="252000" y="3162875"/>
            <a:ext cx="4107960" cy="2579760"/>
          </a:xfrm>
          <a:prstGeom prst="rect">
            <a:avLst/>
          </a:prstGeom>
          <a:ln w="0">
            <a:noFill/>
          </a:ln>
        </p:spPr>
      </p:pic>
      <p:sp>
        <p:nvSpPr>
          <p:cNvPr id="240" name="Text Box 5"/>
          <p:cNvSpPr/>
          <p:nvPr/>
        </p:nvSpPr>
        <p:spPr>
          <a:xfrm>
            <a:off x="5226120" y="4088160"/>
            <a:ext cx="3594240" cy="63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Chronogramme d’activité pour le processeur et le DMA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, pour une machine monoprogrammé.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1" name="Text Box 6"/>
          <p:cNvSpPr/>
          <p:nvPr/>
        </p:nvSpPr>
        <p:spPr>
          <a:xfrm>
            <a:off x="508680" y="5807190"/>
            <a:ext cx="359424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Chronogramme d’activité pour le processeur et le DMA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, pour une machine multiprogrammé.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Introduction aux systèmes d’exploitation multiprogrammés</a:t>
            </a: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Rôle et définition d’un système d’exploitation multiprogrammé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31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17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  <p:pic>
        <p:nvPicPr>
          <p:cNvPr id="3" name="Picture 2" descr="diapos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630" y="1417320"/>
            <a:ext cx="3456305" cy="456501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843530" y="6093460"/>
            <a:ext cx="24142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Partager la machine physique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995035" y="3908425"/>
            <a:ext cx="28251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/>
              <a:t>Ordonnancement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/>
              <a:t>Mémoire virtuelle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/>
              <a:t>Interruptions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Introduction aux systèmes d’exploitation multiprogrammés</a:t>
            </a: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Rôle et définition d’un système d’exploitation multiprogrammé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280"/>
              </a:spcBef>
              <a:buNone/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 </a:t>
            </a:r>
            <a:r>
              <a:rPr lang="fr-FR" sz="14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Un second rôle : rendre conviviale la machine physique 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240"/>
              </a:spcBef>
              <a:buNone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32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18</a:t>
            </a:r>
          </a:p>
        </p:txBody>
      </p:sp>
      <p:pic>
        <p:nvPicPr>
          <p:cNvPr id="248" name="Picture 2" descr="diapos18-a"/>
          <p:cNvPicPr/>
          <p:nvPr/>
        </p:nvPicPr>
        <p:blipFill>
          <a:blip r:embed="rId3"/>
          <a:stretch>
            <a:fillRect/>
          </a:stretch>
        </p:blipFill>
        <p:spPr>
          <a:xfrm>
            <a:off x="107280" y="2133000"/>
            <a:ext cx="4392000" cy="2747880"/>
          </a:xfrm>
          <a:prstGeom prst="rect">
            <a:avLst/>
          </a:prstGeom>
          <a:ln w="0">
            <a:noFill/>
          </a:ln>
        </p:spPr>
      </p:pic>
      <p:pic>
        <p:nvPicPr>
          <p:cNvPr id="249" name="Picture 3" descr="diapos18-b"/>
          <p:cNvPicPr/>
          <p:nvPr/>
        </p:nvPicPr>
        <p:blipFill>
          <a:blip r:embed="rId4"/>
          <a:stretch>
            <a:fillRect/>
          </a:stretch>
        </p:blipFill>
        <p:spPr>
          <a:xfrm>
            <a:off x="4716000" y="3069000"/>
            <a:ext cx="4496760" cy="2868480"/>
          </a:xfrm>
          <a:prstGeom prst="rect">
            <a:avLst/>
          </a:prstGeom>
          <a:ln w="0">
            <a:noFill/>
          </a:ln>
        </p:spPr>
      </p:pic>
      <p:sp>
        <p:nvSpPr>
          <p:cNvPr id="250" name="Text Box 4"/>
          <p:cNvSpPr/>
          <p:nvPr/>
        </p:nvSpPr>
        <p:spPr>
          <a:xfrm>
            <a:off x="1115640" y="5013360"/>
            <a:ext cx="150408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Machine physique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1" name="Text Box 5"/>
          <p:cNvSpPr/>
          <p:nvPr/>
        </p:nvSpPr>
        <p:spPr>
          <a:xfrm>
            <a:off x="6211440" y="6021000"/>
            <a:ext cx="14202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Machine virtuelle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Introduction aux systèmes d’exploitation multiprogrammés</a:t>
            </a: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Rôle et définition d’un système d’exploitation multiprogrammé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457200" y="148464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280"/>
              </a:spcBef>
              <a:buNone/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 </a:t>
            </a:r>
            <a:r>
              <a:rPr lang="fr-FR" sz="14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Définition du système d’exploitation multiprogrammé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240"/>
              </a:spcBef>
              <a:buClr>
                <a:srgbClr val="000000"/>
              </a:buClr>
              <a:buFont typeface="Symbol" panose="05050102010706020507" charset="2"/>
              <a:buChar char=""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33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19</a:t>
            </a:r>
          </a:p>
        </p:txBody>
      </p:sp>
      <p:pic>
        <p:nvPicPr>
          <p:cNvPr id="255" name="Picture 1" descr="diapos19"/>
          <p:cNvPicPr/>
          <p:nvPr/>
        </p:nvPicPr>
        <p:blipFill>
          <a:blip r:embed="rId2"/>
          <a:stretch>
            <a:fillRect/>
          </a:stretch>
        </p:blipFill>
        <p:spPr>
          <a:xfrm>
            <a:off x="1331525" y="2059915"/>
            <a:ext cx="5805360" cy="3308760"/>
          </a:xfrm>
          <a:prstGeom prst="rect">
            <a:avLst/>
          </a:prstGeom>
          <a:ln w="0">
            <a:noFill/>
          </a:ln>
        </p:spPr>
      </p:pic>
      <p:sp>
        <p:nvSpPr>
          <p:cNvPr id="256" name="Text Box 7"/>
          <p:cNvSpPr/>
          <p:nvPr/>
        </p:nvSpPr>
        <p:spPr>
          <a:xfrm>
            <a:off x="3059255" y="5373515"/>
            <a:ext cx="250920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Place du système d’exploitation.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Introduction aux systèmes d’exploitation multiprogrammés</a:t>
            </a: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Structure d’un système d’exploitation multiprogrammé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457200" y="148464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280"/>
              </a:spcBef>
              <a:buNone/>
              <a:tabLst>
                <a:tab pos="0" algn="l"/>
              </a:tabLst>
            </a:pPr>
            <a:r>
              <a:rPr lang="fr-FR" sz="14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Composants d’un système d’exploitation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240"/>
              </a:spcBef>
              <a:buClr>
                <a:srgbClr val="000000"/>
              </a:buClr>
              <a:buFont typeface="Symbol" panose="05050102010706020507" charset="2"/>
              <a:buChar char=""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34"/>
          </p:nvPr>
        </p:nvSpPr>
        <p:spPr>
          <a:xfrm>
            <a:off x="8388350" y="6245860"/>
            <a:ext cx="520700" cy="475615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20</a:t>
            </a:r>
          </a:p>
        </p:txBody>
      </p:sp>
      <p:pic>
        <p:nvPicPr>
          <p:cNvPr id="260" name="Picture 2" descr="diapos20"/>
          <p:cNvPicPr/>
          <p:nvPr/>
        </p:nvPicPr>
        <p:blipFill>
          <a:blip r:embed="rId2"/>
          <a:stretch>
            <a:fillRect/>
          </a:stretch>
        </p:blipFill>
        <p:spPr>
          <a:xfrm>
            <a:off x="991080" y="1773055"/>
            <a:ext cx="7160400" cy="3796200"/>
          </a:xfrm>
          <a:prstGeom prst="rect">
            <a:avLst/>
          </a:prstGeom>
          <a:ln w="0">
            <a:noFill/>
          </a:ln>
        </p:spPr>
      </p:pic>
      <p:sp>
        <p:nvSpPr>
          <p:cNvPr id="261" name="Text Box 3"/>
          <p:cNvSpPr/>
          <p:nvPr/>
        </p:nvSpPr>
        <p:spPr>
          <a:xfrm>
            <a:off x="3059565" y="5661690"/>
            <a:ext cx="33861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Fonctionnalités du système d’exploitation.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Introduction aux systèmes d’exploitation multiprogrammés</a:t>
            </a: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Structure d’un système d’exploitation multiprogrammé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35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21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  <p:sp>
        <p:nvSpPr>
          <p:cNvPr id="3" name="Text Box 2"/>
          <p:cNvSpPr txBox="1"/>
          <p:nvPr/>
        </p:nvSpPr>
        <p:spPr>
          <a:xfrm>
            <a:off x="2843530" y="2781300"/>
            <a:ext cx="2872740" cy="7683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fr-FR" sz="4400" b="1">
                <a:solidFill>
                  <a:srgbClr val="FF0000"/>
                </a:solidFill>
                <a:latin typeface="Arial" panose="020B0604020202020204"/>
                <a:ea typeface="SimSun"/>
                <a:sym typeface="+mn-ea"/>
              </a:rPr>
              <a:t>Voir notes</a:t>
            </a:r>
            <a:endParaRPr lang="en-US" sz="4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Introduction aux systèmes d’exploitation multiprogrammés</a:t>
            </a: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Structure d’un système d’exploitation multiprogrammé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457200" y="1341000"/>
            <a:ext cx="8229240" cy="49680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280"/>
              </a:spcBef>
              <a:buNone/>
              <a:tabLst>
                <a:tab pos="0" algn="l"/>
              </a:tabLst>
            </a:pPr>
            <a:r>
              <a:rPr lang="fr-FR" sz="14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Composants d’un système d’exploitation (suite)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240"/>
              </a:spcBef>
              <a:buClr>
                <a:srgbClr val="000000"/>
              </a:buClr>
              <a:buFont typeface="Symbol" panose="05050102010706020507" charset="2"/>
              <a:buChar char=""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36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22</a:t>
            </a:r>
          </a:p>
        </p:txBody>
      </p:sp>
      <p:pic>
        <p:nvPicPr>
          <p:cNvPr id="268" name="Picture 1" descr="diapos22"/>
          <p:cNvPicPr/>
          <p:nvPr/>
        </p:nvPicPr>
        <p:blipFill>
          <a:blip r:embed="rId2"/>
          <a:stretch>
            <a:fillRect/>
          </a:stretch>
        </p:blipFill>
        <p:spPr>
          <a:xfrm>
            <a:off x="1113790" y="1988820"/>
            <a:ext cx="7160895" cy="3317875"/>
          </a:xfrm>
          <a:prstGeom prst="rect">
            <a:avLst/>
          </a:prstGeom>
          <a:ln w="0">
            <a:noFill/>
          </a:ln>
        </p:spPr>
      </p:pic>
      <p:sp>
        <p:nvSpPr>
          <p:cNvPr id="269" name="Text Box 2"/>
          <p:cNvSpPr/>
          <p:nvPr/>
        </p:nvSpPr>
        <p:spPr>
          <a:xfrm>
            <a:off x="2707755" y="5373200"/>
            <a:ext cx="372888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Les deux niveaux d’appel des routines systèmes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Introduction aux systèmes d’exploitation multiprogrammés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Principaux types de systèmes d’exploitations multiprogrammés</a:t>
            </a:r>
            <a:br>
              <a:rPr sz="36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37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23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  <p:pic>
        <p:nvPicPr>
          <p:cNvPr id="3" name="Picture 2" descr="interac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" y="1557020"/>
            <a:ext cx="3612515" cy="270954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83260" y="4365625"/>
            <a:ext cx="28829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spc="-1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Systèmes multiutilisateurs interactifs</a:t>
            </a:r>
            <a:endParaRPr lang="en-US" sz="1200" b="1"/>
          </a:p>
        </p:txBody>
      </p:sp>
      <p:pic>
        <p:nvPicPr>
          <p:cNvPr id="5" name="Picture 4" descr="bat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57020"/>
            <a:ext cx="4056380" cy="21551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219065" y="3789045"/>
            <a:ext cx="25507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spc="-1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Systèmes à traitements par lots</a:t>
            </a:r>
            <a:endParaRPr lang="en-US" sz="1200" b="1"/>
          </a:p>
        </p:txBody>
      </p:sp>
      <p:pic>
        <p:nvPicPr>
          <p:cNvPr id="7" name="Picture 6" descr="temps_re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610" y="4149090"/>
            <a:ext cx="4296410" cy="176149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5363845" y="5949315"/>
            <a:ext cx="25507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spc="-1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Systèmes temps réel (réactifs)</a:t>
            </a:r>
            <a:endParaRPr lang="en-US" sz="1200"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457200" y="59415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2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Introduction aux systèmes d’exploitation multiprogrammés </a:t>
            </a:r>
            <a:br>
              <a:rPr sz="44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Notions de base</a:t>
            </a:r>
            <a:br>
              <a:rPr sz="44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38"/>
          </p:nvPr>
        </p:nvSpPr>
        <p:spPr>
          <a:xfrm>
            <a:off x="8676005" y="6381115"/>
            <a:ext cx="447675" cy="475615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24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  <p:pic>
        <p:nvPicPr>
          <p:cNvPr id="3" name="Picture 2" descr="termi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" y="1340485"/>
            <a:ext cx="4054475" cy="85217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0" y="2331085"/>
            <a:ext cx="39306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1000" b="1"/>
              <a:t>Appels aux rotines du système par le biais d’une commande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4211955" y="1196975"/>
            <a:ext cx="488188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/*</a:t>
            </a:r>
          </a:p>
          <a:p>
            <a:endParaRPr lang="en-US" sz="800">
              <a:latin typeface="Andale Mono" panose="020B0509000000000004" charset="0"/>
              <a:cs typeface="Andale Mono" panose="020B0509000000000004" charset="0"/>
            </a:endParaRP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Demo of using interrupts for doing what they do best --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two things at once.</a:t>
            </a:r>
          </a:p>
          <a:p>
            <a:endParaRPr lang="en-US" sz="800">
              <a:latin typeface="Andale Mono" panose="020B0509000000000004" charset="0"/>
              <a:cs typeface="Andale Mono" panose="020B0509000000000004" charset="0"/>
            </a:endParaRP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Flashes LED0 at a fixed rate, interrupting whenever button is pressed.</a:t>
            </a:r>
          </a:p>
          <a:p>
            <a:endParaRPr lang="en-US" sz="800">
              <a:latin typeface="Andale Mono" panose="020B0509000000000004" charset="0"/>
              <a:cs typeface="Andale Mono" panose="020B0509000000000004" charset="0"/>
            </a:endParaRP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 */</a:t>
            </a:r>
          </a:p>
          <a:p>
            <a:endParaRPr lang="en-US" sz="800">
              <a:latin typeface="Andale Mono" panose="020B0509000000000004" charset="0"/>
              <a:cs typeface="Andale Mono" panose="020B0509000000000004" charset="0"/>
            </a:endParaRP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// ------- Preamble -------- //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#include &lt;avr/io.h&gt;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#include &lt;util/delay.h&gt;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#include &lt;avr/interrupt.h&gt;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#include "pinDefines.h"</a:t>
            </a:r>
          </a:p>
          <a:p>
            <a:endParaRPr lang="en-US" sz="800">
              <a:latin typeface="Andale Mono" panose="020B0509000000000004" charset="0"/>
              <a:cs typeface="Andale Mono" panose="020B0509000000000004" charset="0"/>
            </a:endParaRP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ISR(INT0_vect) {         /* Run every time there is a change on button */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  if (bit_is_set(BUTTON_PIN, BUTTON)) {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    LED_PORT |= (1 &lt;&lt; LED1);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  }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  else {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    LED_PORT &amp;= ~(1 &lt;&lt; LED1);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  }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}</a:t>
            </a:r>
          </a:p>
          <a:p>
            <a:endParaRPr lang="en-US" sz="800">
              <a:latin typeface="Andale Mono" panose="020B0509000000000004" charset="0"/>
              <a:cs typeface="Andale Mono" panose="020B0509000000000004" charset="0"/>
            </a:endParaRP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void initInterrupt0(void) {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  EIMSK |= (1 &lt;&lt; INT0);                                 /* enable INT0 */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  EICRA |= (1 &lt;&lt; ISC00);                /* trigger when button changes */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  sei();                          /* set (global) interrupt enable bit */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}</a:t>
            </a:r>
          </a:p>
          <a:p>
            <a:endParaRPr lang="en-US" sz="800">
              <a:latin typeface="Andale Mono" panose="020B0509000000000004" charset="0"/>
              <a:cs typeface="Andale Mono" panose="020B0509000000000004" charset="0"/>
            </a:endParaRP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int main(void) {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  // -------- Inits --------- //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  LED_DDR = 0xff;                                   /* all LEDs active */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  BUTTON_PORT |= (1 &lt;&lt; BUTTON);                              /* pullup */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  initInterrupt0();</a:t>
            </a:r>
          </a:p>
          <a:p>
            <a:endParaRPr lang="en-US" sz="800">
              <a:latin typeface="Andale Mono" panose="020B0509000000000004" charset="0"/>
              <a:cs typeface="Andale Mono" panose="020B0509000000000004" charset="0"/>
            </a:endParaRP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  // ------ Event loop ------ //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  while (1) {</a:t>
            </a:r>
          </a:p>
          <a:p>
            <a:endParaRPr lang="en-US" sz="800">
              <a:latin typeface="Andale Mono" panose="020B0509000000000004" charset="0"/>
              <a:cs typeface="Andale Mono" panose="020B0509000000000004" charset="0"/>
            </a:endParaRP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    _delay_ms(200);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    LED_PORT ^= (1 &lt;&lt; LED0);</a:t>
            </a:r>
          </a:p>
          <a:p>
            <a:endParaRPr lang="en-US" sz="800">
              <a:latin typeface="Andale Mono" panose="020B0509000000000004" charset="0"/>
              <a:cs typeface="Andale Mono" panose="020B0509000000000004" charset="0"/>
            </a:endParaRP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  }                                                  /* End event loop */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  return (0);                            /* This line is never reached */</a:t>
            </a:r>
          </a:p>
          <a:p>
            <a:r>
              <a:rPr lang="en-US" sz="800">
                <a:latin typeface="Andale Mono" panose="020B0509000000000004" charset="0"/>
                <a:cs typeface="Andale Mono" panose="020B0509000000000004" charset="0"/>
              </a:rPr>
              <a:t>}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179070" y="5856605"/>
            <a:ext cx="405638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1000" b="1"/>
              <a:t>Appels aux rotines du système par le biais d’un appel système </a:t>
            </a:r>
            <a:r>
              <a:rPr lang="fr-FR" sz="1000" b="1" spc="-1">
                <a:solidFill>
                  <a:srgbClr val="00B050"/>
                </a:solidFill>
                <a:latin typeface="Arial" panose="020B0604020202020204"/>
                <a:ea typeface="SimSun"/>
                <a:sym typeface="+mn-ea"/>
              </a:rPr>
              <a:t>(note X)</a:t>
            </a:r>
            <a:br>
              <a:rPr sz="1000">
                <a:sym typeface="+mn-ea"/>
              </a:rPr>
            </a:br>
            <a:endParaRPr lang="fr-FR" altLang="en-US" sz="1000"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2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Introduction aux systèmes d’exploitation multiprogrammés </a:t>
            </a:r>
            <a:br>
              <a:rPr sz="24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Notions de base</a:t>
            </a:r>
            <a:br>
              <a:rPr sz="44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372534" y="1416259"/>
            <a:ext cx="8313906" cy="4450301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280"/>
              </a:spcBef>
              <a:buNone/>
              <a:tabLst>
                <a:tab pos="0" algn="l"/>
              </a:tabLst>
            </a:pPr>
            <a:r>
              <a:rPr lang="fr-FR" sz="14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Modes d’exécutions et commutations de contexte (suite)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240"/>
              </a:spcBef>
              <a:buNone/>
              <a:tabLst>
                <a:tab pos="0" algn="l"/>
              </a:tabLst>
            </a:pPr>
            <a:r>
              <a:rPr lang="fr-FR" sz="1200" b="1" i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Commutations de contexte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240"/>
              </a:spcBef>
              <a:buNone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240"/>
              </a:spcBef>
              <a:buNone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39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25</a:t>
            </a:r>
          </a:p>
        </p:txBody>
      </p:sp>
      <p:pic>
        <p:nvPicPr>
          <p:cNvPr id="280" name="Picture 1" descr="diapos25"/>
          <p:cNvPicPr/>
          <p:nvPr/>
        </p:nvPicPr>
        <p:blipFill>
          <a:blip r:embed="rId2"/>
          <a:stretch>
            <a:fillRect/>
          </a:stretch>
        </p:blipFill>
        <p:spPr>
          <a:xfrm>
            <a:off x="1115060" y="1917065"/>
            <a:ext cx="6468745" cy="4124325"/>
          </a:xfrm>
          <a:prstGeom prst="rect">
            <a:avLst/>
          </a:prstGeom>
          <a:ln w="0">
            <a:noFill/>
          </a:ln>
        </p:spPr>
      </p:pic>
      <p:sp>
        <p:nvSpPr>
          <p:cNvPr id="281" name="Text Box 2"/>
          <p:cNvSpPr/>
          <p:nvPr/>
        </p:nvSpPr>
        <p:spPr>
          <a:xfrm>
            <a:off x="3059360" y="6093360"/>
            <a:ext cx="215100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Commutations de contexte.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2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Introduction aux systèmes d’exploitation multiprogrammés </a:t>
            </a:r>
            <a:br>
              <a:rPr sz="24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Notions de base</a:t>
            </a:r>
            <a:br>
              <a:rPr sz="44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457200" y="134100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280"/>
              </a:spcBef>
              <a:buNone/>
              <a:tabLst>
                <a:tab pos="0" algn="l"/>
              </a:tabLst>
            </a:pPr>
            <a:r>
              <a:rPr lang="fr-FR" sz="14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Modes d’exécutions et commutations de contexte (suite)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240"/>
              </a:spcBef>
              <a:buNone/>
              <a:tabLst>
                <a:tab pos="0" algn="l"/>
              </a:tabLst>
            </a:pPr>
            <a:r>
              <a:rPr lang="fr-FR" sz="1200" b="1" i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Commutations de contexte (suite)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240"/>
              </a:spcBef>
              <a:buNone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240"/>
              </a:spcBef>
              <a:buNone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40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26</a:t>
            </a:r>
          </a:p>
        </p:txBody>
      </p:sp>
      <p:sp>
        <p:nvSpPr>
          <p:cNvPr id="286" name="Text Box 2"/>
          <p:cNvSpPr/>
          <p:nvPr/>
        </p:nvSpPr>
        <p:spPr>
          <a:xfrm>
            <a:off x="2482145" y="6092725"/>
            <a:ext cx="3389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Trois causes de commutations de contexte.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88" name="Picture 3" descr="diapos26"/>
          <p:cNvPicPr/>
          <p:nvPr/>
        </p:nvPicPr>
        <p:blipFill>
          <a:blip r:embed="rId2"/>
          <a:stretch>
            <a:fillRect/>
          </a:stretch>
        </p:blipFill>
        <p:spPr>
          <a:xfrm>
            <a:off x="1907460" y="1785700"/>
            <a:ext cx="5618160" cy="4308120"/>
          </a:xfrm>
          <a:prstGeom prst="rect">
            <a:avLst/>
          </a:prstGeom>
          <a:ln w="0"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2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Introduction aux systèmes d’exploitation multiprogrammés</a:t>
            </a: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Notions de base</a:t>
            </a:r>
            <a:br>
              <a:rPr sz="44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35640" y="1269360"/>
            <a:ext cx="8985600" cy="452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280"/>
              </a:spcBef>
              <a:buNone/>
              <a:tabLst>
                <a:tab pos="0" algn="l"/>
              </a:tabLst>
            </a:pPr>
            <a:r>
              <a:rPr lang="fr-FR" sz="14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Gestion des interruptions matérielles et logicielles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240"/>
              </a:spcBef>
              <a:buNone/>
              <a:tabLst>
                <a:tab pos="0" algn="l"/>
              </a:tabLst>
            </a:pPr>
            <a:r>
              <a:rPr lang="fr-FR" sz="1200" b="1" i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Prise en compte d’une interruption matérielle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1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27</a:t>
            </a:r>
          </a:p>
        </p:txBody>
      </p:sp>
      <p:sp>
        <p:nvSpPr>
          <p:cNvPr id="293" name="Text Box 2"/>
          <p:cNvSpPr/>
          <p:nvPr/>
        </p:nvSpPr>
        <p:spPr>
          <a:xfrm>
            <a:off x="2843440" y="5877550"/>
            <a:ext cx="2707920" cy="2730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Prise en compte d’une interruption.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95" name="Picture 1" descr="diapos27"/>
          <p:cNvPicPr/>
          <p:nvPr/>
        </p:nvPicPr>
        <p:blipFill>
          <a:blip r:embed="rId2"/>
          <a:stretch>
            <a:fillRect/>
          </a:stretch>
        </p:blipFill>
        <p:spPr>
          <a:xfrm>
            <a:off x="1547495" y="1988820"/>
            <a:ext cx="5606415" cy="3774440"/>
          </a:xfrm>
          <a:prstGeom prst="rect">
            <a:avLst/>
          </a:prstGeom>
          <a:ln w="0"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Conclusion</a:t>
            </a: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fr-FR" sz="3200" b="0" strike="noStrike" spc="-1">
                <a:solidFill>
                  <a:srgbClr val="C9211E"/>
                </a:solidFill>
                <a:latin typeface="Arial" panose="020B0604020202020204"/>
              </a:rPr>
              <a:t>A FAIRE</a:t>
            </a:r>
            <a:endParaRPr lang="fr-FR" sz="3200" b="0" strike="noStrike" spc="-1">
              <a:solidFill>
                <a:srgbClr val="C9211E"/>
              </a:solidFill>
              <a:latin typeface="Arial" panose="020B0604020202020204"/>
              <a:ea typeface="SimSun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28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TP</a:t>
            </a: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sldNum" idx="43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27</a:t>
            </a:r>
          </a:p>
        </p:txBody>
      </p:sp>
      <p:sp>
        <p:nvSpPr>
          <p:cNvPr id="301" name="Text Box 3"/>
          <p:cNvSpPr/>
          <p:nvPr/>
        </p:nvSpPr>
        <p:spPr>
          <a:xfrm>
            <a:off x="2446200" y="3139920"/>
            <a:ext cx="5113800" cy="1004760"/>
          </a:xfrm>
          <a:prstGeom prst="rect">
            <a:avLst/>
          </a:prstGeom>
          <a:noFill/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000" b="0" strike="noStrike" spc="-1">
                <a:solidFill>
                  <a:srgbClr val="C9211E"/>
                </a:solidFill>
                <a:latin typeface="Arial" panose="020B0604020202020204"/>
                <a:ea typeface="SimSun"/>
              </a:rPr>
              <a:t>TP : A FAIRE</a:t>
            </a:r>
            <a:endParaRPr lang="fr-FR" sz="6000" b="0" strike="noStrike" spc="-1">
              <a:solidFill>
                <a:srgbClr val="C9211E"/>
              </a:solidFill>
              <a:latin typeface="Arial" panose="020B0604020202020204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1/27/2025</a:t>
            </a:fld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67cf06-de83-4dde-bdc8-c9d2555ecf99">
      <Terms xmlns="http://schemas.microsoft.com/office/infopath/2007/PartnerControls"/>
    </lcf76f155ced4ddcb4097134ff3c332f>
    <TaxCatchAll xmlns="43c9300f-d713-4702-8cc8-fa8bdc3c40b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58AE1F1B4EAE41AA5D45FA89F23B30" ma:contentTypeVersion="11" ma:contentTypeDescription="Crée un document." ma:contentTypeScope="" ma:versionID="af3a8447b9c561d24eb626beaa776d25">
  <xsd:schema xmlns:xsd="http://www.w3.org/2001/XMLSchema" xmlns:xs="http://www.w3.org/2001/XMLSchema" xmlns:p="http://schemas.microsoft.com/office/2006/metadata/properties" xmlns:ns2="fb67cf06-de83-4dde-bdc8-c9d2555ecf99" xmlns:ns3="43c9300f-d713-4702-8cc8-fa8bdc3c40bd" targetNamespace="http://schemas.microsoft.com/office/2006/metadata/properties" ma:root="true" ma:fieldsID="c456be7a26ea39ba590806608b97c9e9" ns2:_="" ns3:_="">
    <xsd:import namespace="fb67cf06-de83-4dde-bdc8-c9d2555ecf99"/>
    <xsd:import namespace="43c9300f-d713-4702-8cc8-fa8bdc3c40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7cf06-de83-4dde-bdc8-c9d2555ecf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alises d’images" ma:readOnly="false" ma:fieldId="{5cf76f15-5ced-4ddc-b409-7134ff3c332f}" ma:taxonomyMulti="true" ma:sspId="3b972a7f-0ff5-4d06-af94-aff851ef5c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9300f-d713-4702-8cc8-fa8bdc3c40b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3897638-9776-4d47-817f-a1af06ed1d14}" ma:internalName="TaxCatchAll" ma:showField="CatchAllData" ma:web="43c9300f-d713-4702-8cc8-fa8bdc3c40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9ECDA7-5CCB-4EC6-80B4-E6A7CB030112}">
  <ds:schemaRefs>
    <ds:schemaRef ds:uri="1ba4732b-772d-4449-a4b4-835f90b02ea8"/>
    <ds:schemaRef ds:uri="766e261a-0364-4f22-a87c-bb1ba8a18389"/>
    <ds:schemaRef ds:uri="8809df66-654d-4558-95ed-9419bae7ad50"/>
    <ds:schemaRef ds:uri="ca2b80a2-2871-4120-a587-e0c3105bfd73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796131D-DFBB-4B44-A46B-1533D19E82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387F37B-3BEF-4460-88B8-8D79310C5F37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30</Slides>
  <Notes>9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默认设计模板</vt:lpstr>
      <vt:lpstr>默认设计模板</vt:lpstr>
      <vt:lpstr>1_默认设计模板</vt:lpstr>
      <vt:lpstr>2_默认设计模板</vt:lpstr>
      <vt:lpstr>A. Notions de base sur les systèmes d'exploitation</vt:lpstr>
      <vt:lpstr>Sommaire</vt:lpstr>
      <vt:lpstr>Introduction</vt:lpstr>
      <vt:lpstr> Rappels d’architecture des machines Structure générale de la machine physique </vt:lpstr>
      <vt:lpstr> Rappels d’architecture des machines La mémoire centrale </vt:lpstr>
      <vt:lpstr> Rappels d’architecture des machines Le bus de communication (note 2) </vt:lpstr>
      <vt:lpstr> Rappels d’architecture des machines Le bus de communication </vt:lpstr>
      <vt:lpstr>Rappels d’architecture des machines Le processeur central ou microprocesseur</vt:lpstr>
      <vt:lpstr>PowerPoint Presentation</vt:lpstr>
      <vt:lpstr>Rappels d’architecture des machines Le processeur central ou microprocesseur</vt:lpstr>
      <vt:lpstr>Rappels d’architecture des machines Le processeur central ou microprocesseur</vt:lpstr>
      <vt:lpstr> Rappels d’architecture des machines FONCTIONNEMENT : RELATION MICROPROCESSEUR / MÉMOIRE CENTRALE  </vt:lpstr>
      <vt:lpstr>Rappels d’architecture des machines Les unités d’échangescwcccxcccccccccccccccccccccccccccccccccccccccccccccccccccccccccxxg;;ù</vt:lpstr>
      <vt:lpstr>Rappels d’architecture des machines Notion d’interruptions</vt:lpstr>
      <vt:lpstr>Rappels d’architecture des machines Notion d’interruptions</vt:lpstr>
      <vt:lpstr>Rappels d’architecture des machines Notion d’interruptions</vt:lpstr>
      <vt:lpstr>Introduction aux systèmes d’exploitation multiprogrammés  Rôle et définition d’un système d’exploitation multiprogrammé (ICI le mardi 28 mars)</vt:lpstr>
      <vt:lpstr>Introduction aux systèmes d’exploitation multiprogrammés Rôle et définition d’un système d’exploitation multiprogrammé</vt:lpstr>
      <vt:lpstr>Introduction aux systèmes d’exploitation multiprogrammés Rôle et définition d’un système d’exploitation multiprogrammé</vt:lpstr>
      <vt:lpstr>Introduction aux systèmes d’exploitation multiprogrammés Rôle et définition d’un système d’exploitation multiprogrammé</vt:lpstr>
      <vt:lpstr>Introduction aux systèmes d’exploitation multiprogrammés Structure d’un système d’exploitation multiprogrammé</vt:lpstr>
      <vt:lpstr>Introduction aux systèmes d’exploitation multiprogrammés Structure d’un système d’exploitation multiprogrammé</vt:lpstr>
      <vt:lpstr>Introduction aux systèmes d’exploitation multiprogrammés Structure d’un système d’exploitation multiprogrammé</vt:lpstr>
      <vt:lpstr>Introduction aux systèmes d’exploitation multiprogrammés Principaux types de systèmes d’exploitations multiprogrammés </vt:lpstr>
      <vt:lpstr> Introduction aux systèmes d’exploitation multiprogrammés  Notions de base </vt:lpstr>
      <vt:lpstr> Introduction aux systèmes d’exploitation multiprogrammés  Notions de base </vt:lpstr>
      <vt:lpstr> Introduction aux systèmes d’exploitation multiprogrammés  Notions de base </vt:lpstr>
      <vt:lpstr> Introduction aux systèmes d’exploitation multiprogrammés Notions de base </vt:lpstr>
      <vt:lpstr>Conclusion</vt:lpstr>
      <vt:lpstr>TP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1</dc:title>
  <dc:creator>wps</dc:creator>
  <cp:revision>1</cp:revision>
  <dcterms:created xsi:type="dcterms:W3CDTF">2023-11-16T21:51:56Z</dcterms:created>
  <dcterms:modified xsi:type="dcterms:W3CDTF">2025-01-27T13:48:05Z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1033-11.1.0.11698</vt:lpwstr>
  </property>
  <property fmtid="{D5CDD505-2E9C-101B-9397-08002B2CF9AE}" pid="4" name="Slides">
    <vt:i4>29</vt:i4>
  </property>
  <property fmtid="{D5CDD505-2E9C-101B-9397-08002B2CF9AE}" pid="5" name="ContentTypeId">
    <vt:lpwstr>0x0101001558AE1F1B4EAE41AA5D45FA89F23B30</vt:lpwstr>
  </property>
  <property fmtid="{D5CDD505-2E9C-101B-9397-08002B2CF9AE}" pid="6" name="MediaServiceImageTags">
    <vt:lpwstr/>
  </property>
  <property fmtid="{D5CDD505-2E9C-101B-9397-08002B2CF9AE}" pid="7" name="Order">
    <vt:r8>47000</vt:r8>
  </property>
  <property fmtid="{D5CDD505-2E9C-101B-9397-08002B2CF9AE}" pid="8" name="xd_Signature">
    <vt:bool>false</vt:bool>
  </property>
  <property fmtid="{D5CDD505-2E9C-101B-9397-08002B2CF9AE}" pid="9" name="xd_ProgID">
    <vt:lpwstr/>
  </property>
  <property fmtid="{D5CDD505-2E9C-101B-9397-08002B2CF9AE}" pid="10" name="_SourceUrl">
    <vt:lpwstr/>
  </property>
  <property fmtid="{D5CDD505-2E9C-101B-9397-08002B2CF9AE}" pid="11" name="_SharedFileIndex">
    <vt:lpwstr/>
  </property>
  <property fmtid="{D5CDD505-2E9C-101B-9397-08002B2CF9AE}" pid="12" name="ComplianceAssetId">
    <vt:lpwstr/>
  </property>
  <property fmtid="{D5CDD505-2E9C-101B-9397-08002B2CF9AE}" pid="13" name="TemplateUrl">
    <vt:lpwstr/>
  </property>
  <property fmtid="{D5CDD505-2E9C-101B-9397-08002B2CF9AE}" pid="14" name="_ExtendedDescription">
    <vt:lpwstr/>
  </property>
  <property fmtid="{D5CDD505-2E9C-101B-9397-08002B2CF9AE}" pid="15" name="TriggerFlowInfo">
    <vt:lpwstr/>
  </property>
</Properties>
</file>