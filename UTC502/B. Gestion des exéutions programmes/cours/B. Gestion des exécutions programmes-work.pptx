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</p:sldMasterIdLst>
  <p:notesMasterIdLst>
    <p:notesMasterId r:id="rId10"/>
  </p:notesMasterIdLst>
  <p:sldIdLst>
    <p:sldId id="256" r:id="rId6"/>
    <p:sldId id="257" r:id="rId7"/>
    <p:sldId id="258" r:id="rId8"/>
    <p:sldId id="259" r:id="rId9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8" Type="http://schemas.openxmlformats.org/officeDocument/2006/relationships/slide" Target="slides/slide12.xml"/><Relationship Id="rId13" Type="http://schemas.openxmlformats.org/officeDocument/2006/relationships/slide" Target="slides/slide7.xml"/><Relationship Id="rId50" Type="http://schemas.openxmlformats.org/officeDocument/2006/relationships/viewProps" Target="viewProps.xml"/><Relationship Id="rId47" Type="http://schemas.openxmlformats.org/officeDocument/2006/relationships/slide" Target="slides/slide41.xml"/><Relationship Id="rId42" Type="http://schemas.openxmlformats.org/officeDocument/2006/relationships/slide" Target="slides/slide36.xml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7" Type="http://schemas.openxmlformats.org/officeDocument/2006/relationships/slide" Target="slides/slide2.xml"/><Relationship Id="rId29" Type="http://schemas.openxmlformats.org/officeDocument/2006/relationships/slide" Target="slides/slide23.xml"/><Relationship Id="rId2" Type="http://schemas.openxmlformats.org/officeDocument/2006/relationships/theme" Target="theme/theme1.xml"/><Relationship Id="rId16" Type="http://schemas.openxmlformats.org/officeDocument/2006/relationships/slide" Target="slides/slide10.xml"/><Relationship Id="rId45" Type="http://schemas.openxmlformats.org/officeDocument/2006/relationships/slide" Target="slides/slide39.xml"/><Relationship Id="rId40" Type="http://schemas.openxmlformats.org/officeDocument/2006/relationships/slide" Target="slides/slide34.xml"/><Relationship Id="rId37" Type="http://schemas.openxmlformats.org/officeDocument/2006/relationships/slide" Target="slides/slide31.xml"/><Relationship Id="rId32" Type="http://schemas.openxmlformats.org/officeDocument/2006/relationships/slide" Target="slides/slide26.xml"/><Relationship Id="rId24" Type="http://schemas.openxmlformats.org/officeDocument/2006/relationships/slide" Target="slides/slide18.xml"/><Relationship Id="rId11" Type="http://schemas.openxmlformats.org/officeDocument/2006/relationships/slide" Target="slides/slide5.xml"/><Relationship Id="rId53" Type="http://schemas.openxmlformats.org/officeDocument/2006/relationships/customXml" Target="../customXml/item2.xml"/><Relationship Id="rId5" Type="http://schemas.openxmlformats.org/officeDocument/2006/relationships/slideMaster" Target="slideMasters/slideMaster4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19" Type="http://schemas.openxmlformats.org/officeDocument/2006/relationships/slide" Target="slides/slide13.xml"/><Relationship Id="rId10" Type="http://schemas.openxmlformats.org/officeDocument/2006/relationships/notesMaster" Target="notesMasters/notesMaster1.xml"/><Relationship Id="rId52" Type="http://schemas.openxmlformats.org/officeDocument/2006/relationships/customXml" Target="../customXml/item1.xml"/><Relationship Id="rId9" Type="http://schemas.openxmlformats.org/officeDocument/2006/relationships/slide" Target="slides/slide4.xml"/><Relationship Id="rId48" Type="http://schemas.openxmlformats.org/officeDocument/2006/relationships/slide" Target="slides/slide42.xml"/><Relationship Id="rId43" Type="http://schemas.openxmlformats.org/officeDocument/2006/relationships/slide" Target="slides/slide37.xml"/><Relationship Id="rId4" Type="http://schemas.openxmlformats.org/officeDocument/2006/relationships/slideMaster" Target="slideMasters/slideMaster3.xml"/><Relationship Id="rId35" Type="http://schemas.openxmlformats.org/officeDocument/2006/relationships/slide" Target="slides/slide29.xml"/><Relationship Id="rId30" Type="http://schemas.openxmlformats.org/officeDocument/2006/relationships/slide" Target="slides/slide24.xml"/><Relationship Id="rId27" Type="http://schemas.openxmlformats.org/officeDocument/2006/relationships/slide" Target="slides/slide21.xml"/><Relationship Id="rId22" Type="http://schemas.openxmlformats.org/officeDocument/2006/relationships/slide" Target="slides/slide16.xml"/><Relationship Id="rId14" Type="http://schemas.openxmlformats.org/officeDocument/2006/relationships/slide" Target="slides/slide8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46" Type="http://schemas.openxmlformats.org/officeDocument/2006/relationships/slide" Target="slides/slide40.xml"/><Relationship Id="rId38" Type="http://schemas.openxmlformats.org/officeDocument/2006/relationships/slide" Target="slides/slide32.xml"/><Relationship Id="rId33" Type="http://schemas.openxmlformats.org/officeDocument/2006/relationships/slide" Target="slides/slide27.xml"/><Relationship Id="rId25" Type="http://schemas.openxmlformats.org/officeDocument/2006/relationships/slide" Target="slides/slide19.xml"/><Relationship Id="rId17" Type="http://schemas.openxmlformats.org/officeDocument/2006/relationships/slide" Target="slides/slide11.xml"/><Relationship Id="rId12" Type="http://schemas.openxmlformats.org/officeDocument/2006/relationships/slide" Target="slides/slide6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54" Type="http://schemas.openxmlformats.org/officeDocument/2006/relationships/customXml" Target="../customXml/item3.xml"/><Relationship Id="rId6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49" Type="http://schemas.openxmlformats.org/officeDocument/2006/relationships/presProps" Target="presProps.xml"/><Relationship Id="rId36" Type="http://schemas.openxmlformats.org/officeDocument/2006/relationships/slide" Target="slides/slide30.xml"/><Relationship Id="rId28" Type="http://schemas.openxmlformats.org/officeDocument/2006/relationships/slide" Target="slides/slide22.xml"/><Relationship Id="rId23" Type="http://schemas.openxmlformats.org/officeDocument/2006/relationships/slide" Target="slides/slide17.xml"/><Relationship Id="rId15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0F885C76-FECE-4E42-B69D-C1D99FED285B}" type="slidenum"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514440"/>
            <a:ext cx="6803640" cy="395568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377640" y="421128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 panose="020B0604020202020204"/>
              </a:rPr>
              <a:t>L’éditeur de texte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 est un logiciel interactif permettant de saisir du texte à partir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d’un clavier et de le stocker dans un fichier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le programme source.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Le compilateur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permet la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traduction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du programme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source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en un programme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objet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qui est soit directement le langage machine, soit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langage d’assemblage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passage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du langage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d’assemblage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au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langage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machine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se fait par l’intermédiaire d’un autre traducteur,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l’assembleur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L’éditeur de liens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est un logiciel qui permet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combiner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plusieurs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programmes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objet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en un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seul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et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résoudre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des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appels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à des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modules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librairie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Le rôle du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chargeur 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placer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le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programme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en </a:t>
            </a:r>
            <a:r>
              <a:rPr lang="fr-FR" sz="2000" b="1" strike="noStrike" spc="-1">
                <a:solidFill>
                  <a:srgbClr val="000000"/>
                </a:solidFill>
                <a:latin typeface="Arial" panose="020B0604020202020204"/>
              </a:rPr>
              <a:t>mémoire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centrale à partir d’une adresse d’implantation et de translater toutes les adresses du programme de la valeur de l’adresse d’implantation.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</a:pP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passage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prêt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vers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élu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constitue l’</a:t>
            </a:r>
            <a:r>
              <a:rPr lang="en-US" sz="1200" b="1" i="1" strike="noStrike" spc="-1">
                <a:solidFill>
                  <a:srgbClr val="000000"/>
                </a:solidFill>
                <a:latin typeface="Arial" panose="020B0604020202020204"/>
              </a:rPr>
              <a:t>opération d’élection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passage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élu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vers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bloqué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est l’</a:t>
            </a:r>
            <a:r>
              <a:rPr lang="en-US" sz="1200" b="1" i="1" strike="noStrike" spc="-1">
                <a:solidFill>
                  <a:srgbClr val="000000"/>
                </a:solidFill>
                <a:latin typeface="Arial" panose="020B0604020202020204"/>
              </a:rPr>
              <a:t>opération de blocage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passage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bloqué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vers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prêt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est l’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opération de déblocage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bloc de contrôle d’un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contient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informations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suivantes (figure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5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)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identificateur unique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(un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entier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l’état courant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processus (élu, prêt, bloqué);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contexte 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processus : la valeur 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la valeur des autres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registres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processeur;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contexte mémoire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: ce sont des informations mémoire qui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permettent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trouver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code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données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mémoire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centrale;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informations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diverses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comptabilisation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pour 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statistiques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sur les performances du système;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informations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liées à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l’ordonnancement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informations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sur 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ressources utilisées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par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tels que les fichiers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ouverts, les outils de synchronisation utilisés, etc.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Sous Linux ou Unix, l’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appel système fork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permet à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créer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un autre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qui est une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exacte copie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lui-même au moment de l’appel.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fils hérite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code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données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père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hormis son identificateur.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Ce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code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hérité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peut être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modifié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pour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autre code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par le biais d’un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appel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à une des routines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systèmes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la famille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exec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720" y="812880"/>
            <a:ext cx="6856920" cy="3924000"/>
          </a:xfrm>
          <a:prstGeom prst="rect">
            <a:avLst/>
          </a:prstGeom>
          <a:ln w="0">
            <a:noFill/>
          </a:ln>
        </p:spPr>
      </p:sp>
      <p:sp>
        <p:nvSpPr>
          <p:cNvPr id="353" name="Text Box 3"/>
          <p:cNvSpPr/>
          <p:nvPr/>
        </p:nvSpPr>
        <p:spPr>
          <a:xfrm>
            <a:off x="76320" y="4772160"/>
            <a:ext cx="6746040" cy="3930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La sortie sur dans une VM n’est pas le même que sur le host !? :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Sur le host :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je suis le fils; mon pid est 760009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pid de mon père, 760003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je suis le père; mon pid est 760003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pid de mon fils, 760009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+mj-lt"/>
                <a:ea typeface="+mn-ea"/>
              </a:rPr>
              <a:t>Sur la VM :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je suis le père; mon pid est 2652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pid de mon fils, 2676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je suis le fils; mon pid est 2676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Courier New" panose="02070309020205020404"/>
                <a:ea typeface="+mn-ea"/>
              </a:rPr>
              <a:t>pid de mon père, 2652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720" y="812880"/>
            <a:ext cx="6856920" cy="3924000"/>
          </a:xfrm>
          <a:prstGeom prst="rect">
            <a:avLst/>
          </a:prstGeom>
          <a:ln w="0">
            <a:noFill/>
          </a:ln>
        </p:spPr>
      </p:sp>
      <p:sp>
        <p:nvSpPr>
          <p:cNvPr id="355" name="Text Box 3"/>
          <p:cNvSpPr/>
          <p:nvPr/>
        </p:nvSpPr>
        <p:spPr>
          <a:xfrm>
            <a:off x="76320" y="4772160"/>
            <a:ext cx="674604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Courier New" panose="02070309020205020404"/>
              <a:ea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utilisation processeur (c ou %CPU)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: indique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pourcentage utilisation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par rapport à la durée de vie du processus 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terminal (TTY)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: indique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terminal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auquel 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rattaché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(pour affichages et contrôle …)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durée d’exécution (TIME)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: indique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temps cumulé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passé à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exécuter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commande (CMD)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: correspond au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nom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programme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exécutable.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29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Dans le contexte d’une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machine multiprogrammée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plusieurs 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sont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présents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mémoire centrale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Imaginons la situation suivante à un instant t : le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P1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élu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s’exécute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sur le processeur.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Les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P2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P4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sont dans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bloqué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car ils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attentent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tous les deux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fin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d’une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opération d’entrées-sorties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avec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disque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Les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P3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P5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P6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quant à eux sont dans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l’état prêt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: ils pourraient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s’exécuter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mais ils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ne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peuvent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pas car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occupé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par le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P1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Lorsque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P1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quitte le processeur parce qu’il 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terminé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son exécution, les trois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P3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P5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P6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ont tous les trois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droit d’obtenir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processeur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Mais le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ne peut être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alloué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qu’à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un seul 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à la fois : il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faut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donc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choisir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entre P3, P5 et P6.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Par ailleurs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à un moment donné l’un des deux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P2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ou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P4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,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terminera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opération d’entrées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-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sorties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Ce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passera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alors dans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prêt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et sera peut-être plus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prioritaire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 que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courant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. Il faudra alors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préempter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celui-ci. C’est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rôle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fonction d’ordonnancement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que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choisir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un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des trois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P3, P5 ou P6 pour lui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allouer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ou de choisir d’arrêter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le processus courant pour allouer le processeur à un nouveau processus prêt.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57960" y="4648320"/>
            <a:ext cx="6746040" cy="443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figure 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11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schématise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déroulement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des opérations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d’ordonnancement préemptif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avec deux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processus P0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P1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Initialement le 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élu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s’exécute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Le</a:t>
            </a:r>
            <a:r>
              <a:rPr lang="fr-FR" sz="1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P1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est dans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l’état prêt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Le 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P0 fait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appel système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, par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exemple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read (données, disque) pour demander la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lecture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données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depuis un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disque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Il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y 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commutation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avec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changement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protection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pour aller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exécuter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le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code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l’appel système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passage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mode superviseur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 au cours duquel le processus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bloque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dans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l’attente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la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fin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l’opération d’entrées-sorties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avec le disque.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Il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y a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donc une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d’élection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et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P1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élu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: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processeur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associé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au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sauvegardé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dans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PCB0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 et le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processeur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chargé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avec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1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PCB1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). Le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commence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son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exécution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cours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cette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exécution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l’opération d’entrées-sorties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au bénéfice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termine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et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disque envoie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donc une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interruption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pour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signaler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la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fin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 cette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d’entrées-sorties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dérouté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pour aller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exécuter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traitant d’interruption correspondant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; il y a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commutation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avec changement de protection (passage en mode superviseur).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Au cours du traitant d’interruption, l’état du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modifié et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devient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égal à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prêt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, puis une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d’ordonnancement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lancée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: le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de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nouveau élu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processeur associé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sauvegardé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dans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P1 (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PCB1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) et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processeur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chargé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avec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PCB0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).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opérations d’ordonnancement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prennent place lors de tout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changement d’états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57960" y="4648320"/>
            <a:ext cx="6746040" cy="443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figure 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11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schématise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le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déroulement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des opérations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d’ordonnancement préemptif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avec deux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processus P0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P1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Initialement le 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élu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et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s’exécute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Le</a:t>
            </a:r>
            <a:r>
              <a:rPr lang="fr-FR" sz="10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P1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est dans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l’état prêt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Le processus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P0 fait 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un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appel système</a:t>
            </a:r>
            <a:r>
              <a:rPr lang="en-US" sz="1000" b="0" strike="noStrike" spc="-1">
                <a:solidFill>
                  <a:srgbClr val="000000"/>
                </a:solidFill>
                <a:latin typeface="Arial" panose="020B0604020202020204"/>
              </a:rPr>
              <a:t>, par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</a:rPr>
              <a:t>exemple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read (données, disque) pour demander la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lecture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données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depuis un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disque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Il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y 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commutation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avec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changement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protection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pour aller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exécuter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le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code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l’appel système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passage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mode superviseur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 au cours duquel le processus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bloque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dans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l’attente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la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fin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l’opération d’entrées-sorties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avec le disque.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Il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y a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donc une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d’élection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et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P1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élu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: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processeur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associé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au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sauvegardé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dans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PCB0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 et le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processeur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chargé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avec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 1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(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PCB1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). Le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commence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son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exécution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Au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cours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de cette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exécution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l’opération d’entrées-sorties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 au bénéfice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se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termine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et le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disque envoie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donc une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interruption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pour </a:t>
            </a:r>
            <a:r>
              <a:rPr lang="en-US" sz="1000" b="1" strike="noStrike" spc="-1">
                <a:solidFill>
                  <a:srgbClr val="000000"/>
                </a:solidFill>
                <a:latin typeface="Courier New" panose="02070309020205020404"/>
              </a:rPr>
              <a:t>signaler </a:t>
            </a:r>
            <a:r>
              <a:rPr lang="en-US" sz="1000" b="0" strike="noStrike" spc="-1">
                <a:solidFill>
                  <a:srgbClr val="000000"/>
                </a:solidFill>
                <a:latin typeface="Courier New" panose="02070309020205020404"/>
              </a:rPr>
              <a:t>la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fin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 cette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d’entrées-sorties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dérouté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pour aller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exécuter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traitant d’interruption correspondant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; il y a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commutation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avec changement de protection (passage en mode superviseur).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Au cours du traitant d’interruption, l’état du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modifié et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devient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égal à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prêt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, puis une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 d’ordonnancement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lancée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: le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de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nouveau élu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contexte processeur associé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P1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sauvegardé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dans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P1 (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PCB1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) et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processeur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est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chargé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avec le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du processus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0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PCB0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).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Les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opérations d’ordonnancement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prennent place lors de tout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changement d’états 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des </a:t>
            </a:r>
            <a:r>
              <a:rPr lang="fr-FR" sz="1000" b="1" strike="noStrike" spc="-1">
                <a:solidFill>
                  <a:srgbClr val="000000"/>
                </a:solidFill>
                <a:latin typeface="Courier New" panose="02070309020205020404"/>
              </a:rPr>
              <a:t>processus</a:t>
            </a:r>
            <a:r>
              <a:rPr lang="fr-FR" sz="1000" b="0" strike="noStrike" spc="-1">
                <a:solidFill>
                  <a:srgbClr val="000000"/>
                </a:solidFill>
                <a:latin typeface="Courier New" panose="02070309020205020404"/>
              </a:rPr>
              <a:t>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le taux d’occupation du processeur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, c’est-à-dire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rapport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entre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d’utilisation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processeur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par les processus sur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total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écoulé;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la capacité de traitement du processeur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, c’est-à-dire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nombre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processus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exécuté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sur un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intervalle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donné;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le temps d’attente des processus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, c’est-à-dire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passé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par un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dans</a:t>
            </a: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la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file d’attente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des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processus prêts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;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le temps de réponse des processus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, c’est-à-dire le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écoulé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entre la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soumission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du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processus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et sa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fin d’exécution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Les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mesures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sont généralement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effectuées 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sur un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temps moyen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 pour un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ensemble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de processus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8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1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4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7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23AE2B-0211-4C0F-A81E-18B617FB75F6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924C95-A8E5-446B-9BB3-93E9DF7A2C3E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064D60-216A-4D8E-8838-35CD16532B2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0171E5-0E75-4871-A6A5-99A703471F4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449A0F-286E-4169-8CE2-08E33502E6F6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61A2BC-D763-4903-A952-367DE4B976E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B344DA-DA03-40D4-B9A4-DD9C89C74B3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31CD43-2CB6-4844-B212-38FE1496FF2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A84441-8EEF-40E6-9685-DC552CB18F7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215B12-FB6B-4699-9064-E4B3D45DCE9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1A6F1A-A24D-4EEB-A060-0784FC33CAF6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29956E-C85F-4E2A-A8C2-A56AAD4693E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514634-940D-41DB-9DED-75955096315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D2915A-B6EF-4EC7-93D9-AB70E13CCF33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B9D706-0247-4190-BCA3-44E109C87E0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463325-F6D4-453C-BAA3-6B35152E109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55AE39-9482-4E7E-A5FF-04E9F632371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DA0004-66AF-41DC-8741-78B68339763C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9D4BE8-49D5-468D-A746-A6BD23811B3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F03A93-DF68-423A-B848-C21415452B1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201853-789E-4A62-9C8D-66D26C69D70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3AF703-34EC-4446-A59F-6332343BFDE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0198ED-AB18-4814-A419-8F0FE6898C13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DA2FEB-2E41-46FA-8246-806FAF34BB9B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426E4D-C33C-45B3-83CF-5F88DC263CE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F8DAA4-B0F4-49CD-B2AA-6FF6138A8273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20D0E4-6FE8-4600-9616-5BD596935D9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D74426D-A384-4C77-A7BF-D4B56DB5A0CD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A0D8C94-2E71-4DE1-8575-B212BD6DE8C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C16E71-BDA8-4CC0-83D5-17C017133B26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8C73CDC-72FC-487D-A297-425EB19CA6A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FCF2C2-48B1-433D-8E1C-2A6B23B4923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90B2A5-37EC-4CD5-93DB-42EA97696D1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9C9C74-837A-4BC0-90FC-897E6D29253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9EF23C-27DF-41CD-A838-4F8218DB87E4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32EB16-7254-4045-8273-B84BF9B3EB0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EE1977A-1069-4331-825E-99F332D6B93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B0E4466-AD3A-4BBB-B155-AA58B724F60D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418F6AE-D0B2-42EA-9D9B-343F4CF21A5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B4CEF7A-B99F-45C6-9828-8F4BDE082CC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D24AA35-87E8-4085-9B98-019FC2EC2CC0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6E1C26-044A-4813-AEA1-4B9248E3FC7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D4AFAE5-D1BE-4091-A99F-697FDD345B10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001CF7-7004-4A91-A783-82E1CA2EB5E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C3D0475-209E-4DD4-BD75-0B208614950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258D437-4191-4564-945D-82EF08338D2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7F0D195-6CC6-46F5-B551-E0873C7A34B7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3E61218-E168-44EC-9420-F141402BBECB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  <a:ea typeface="DejaVu Sans" panose="020B0606030804020204"/>
              </a:rPr>
              <a:t>&lt;footer&gt;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fr-FR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B. Gestion des exécutions programmes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5522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processus, ordonnancement,  threads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Sommaire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68640"/>
            <a:ext cx="8228520" cy="5047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B1. NOTION DE PROCESSUS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B2.  ORDONNANCEMENT SUR L’UNITÉ CENTRALE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B3. SYNCHRONISATION ET COMMUNICATION ENTRE PROCESSUS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1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B.4. COMPLEMENT : NOTION DE PROCESSUS LÉGER  OU THREAD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7" name="Text Box 6"/>
          <p:cNvSpPr/>
          <p:nvPr/>
        </p:nvSpPr>
        <p:spPr>
          <a:xfrm>
            <a:off x="35640" y="1628640"/>
            <a:ext cx="896148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ce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chapitre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nous nous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intéressons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fonction d’exécution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recouvre principalement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notions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celle de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correspond à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l’image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</a:t>
            </a:r>
            <a:r>
              <a:rPr lang="fr-FR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s’exécute 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celle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d’ordonnancement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correspond au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problème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l’allocation</a:t>
            </a:r>
            <a:r>
              <a:rPr lang="fr-FR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donc du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partage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</a:t>
            </a:r>
            <a:r>
              <a:rPr lang="en-US" sz="18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différents processus</a:t>
            </a: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  <a:ea typeface="DejaVu Sans" panose="020B0606030804020204"/>
              </a:rPr>
              <a:t>Enfin, nous</a:t>
            </a:r>
            <a:r>
              <a:rPr lang="fr-FR" sz="1800" b="0" i="1" strike="noStrike" spc="-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  <a:ea typeface="DejaVu Sans" panose="020B0606030804020204"/>
              </a:rPr>
              <a:t> </a:t>
            </a:r>
            <a:r>
              <a:rPr lang="en-US" sz="1800" b="0" i="1" strike="noStrike" spc="-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/>
                <a:ea typeface="DejaVu Sans" panose="020B0606030804020204"/>
              </a:rPr>
              <a:t>terminons cette partie en abordant les problèmes de synchronisation et de communication entre processus.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</a:t>
            </a: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44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180" name="Content Placeholder 1" descr="Chaîne de production de programme"/>
          <p:cNvPicPr/>
          <p:nvPr/>
        </p:nvPicPr>
        <p:blipFill>
          <a:blip r:embed="rId1"/>
          <a:stretch>
            <a:fillRect/>
          </a:stretch>
        </p:blipFill>
        <p:spPr>
          <a:xfrm>
            <a:off x="243720" y="1556280"/>
            <a:ext cx="4830840" cy="4524480"/>
          </a:xfrm>
          <a:prstGeom prst="rect">
            <a:avLst/>
          </a:prstGeom>
          <a:ln w="0">
            <a:noFill/>
          </a:ln>
        </p:spPr>
      </p:pic>
      <p:sp>
        <p:nvSpPr>
          <p:cNvPr id="181" name="Text Box 2"/>
          <p:cNvSpPr/>
          <p:nvPr/>
        </p:nvSpPr>
        <p:spPr>
          <a:xfrm>
            <a:off x="970920" y="6235560"/>
            <a:ext cx="31719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 : Du programme au processus </a:t>
            </a:r>
            <a:r>
              <a:rPr lang="fr-FR" sz="10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1)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82" name="Picture 3" descr="compilation_programme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920" y="1339920"/>
            <a:ext cx="4062960" cy="4827600"/>
          </a:xfrm>
          <a:prstGeom prst="rect">
            <a:avLst/>
          </a:prstGeom>
          <a:ln w="0">
            <a:noFill/>
          </a:ln>
        </p:spPr>
      </p:pic>
      <p:sp>
        <p:nvSpPr>
          <p:cNvPr id="183" name="Text Box 4"/>
          <p:cNvSpPr/>
          <p:nvPr/>
        </p:nvSpPr>
        <p:spPr>
          <a:xfrm>
            <a:off x="5414040" y="6122160"/>
            <a:ext cx="3436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2 : Chaîne de production de programmes en C.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4" name="Text Box 5"/>
          <p:cNvSpPr/>
          <p:nvPr/>
        </p:nvSpPr>
        <p:spPr>
          <a:xfrm>
            <a:off x="3924360" y="1484640"/>
            <a:ext cx="2328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8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Démo : diapos4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Définitions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1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7" name="Text Box 2"/>
          <p:cNvSpPr/>
          <p:nvPr/>
        </p:nvSpPr>
        <p:spPr>
          <a:xfrm>
            <a:off x="5506200" y="4437360"/>
            <a:ext cx="28861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3 : Exécution d’un programme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88" name="Picture 1" descr="execution_programme"/>
          <p:cNvPicPr/>
          <p:nvPr/>
        </p:nvPicPr>
        <p:blipFill>
          <a:blip r:embed="rId1"/>
          <a:stretch>
            <a:fillRect/>
          </a:stretch>
        </p:blipFill>
        <p:spPr>
          <a:xfrm>
            <a:off x="4803120" y="1555200"/>
            <a:ext cx="4347000" cy="2804400"/>
          </a:xfrm>
          <a:prstGeom prst="rect">
            <a:avLst/>
          </a:prstGeom>
          <a:ln w="0">
            <a:noFill/>
          </a:ln>
        </p:spPr>
      </p:pic>
      <p:sp>
        <p:nvSpPr>
          <p:cNvPr id="189" name="Text Box 3"/>
          <p:cNvSpPr/>
          <p:nvPr/>
        </p:nvSpPr>
        <p:spPr>
          <a:xfrm>
            <a:off x="45720" y="1521000"/>
            <a:ext cx="4682160" cy="3557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placé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 centrale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partir de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l’emplacement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d’adresse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102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processeur commence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première instruction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loadIm R1 20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celui-ci est chargée dans le registre instruction1 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RI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 compteur ordinal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contient l’adresse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prochaine instruction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exécuter soit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103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l’instruction courante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été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exécutée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charge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 registre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RI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l’instruction pointée 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soit par exemple l’instruction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add Im R1 5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compteur ordinal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prend la valeur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104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L’exécution de l’instruction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add Im R1 5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contenu 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registre PSW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puisque c’est une instruction arithmétique : les drapeaux de signe, de nullité etc. sont mis à jour.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étape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du programme,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contenu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registres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évolue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même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contenu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centrale peut être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des opérations d’écriture ou de lecture.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0" name="Text Box 4"/>
          <p:cNvSpPr/>
          <p:nvPr/>
        </p:nvSpPr>
        <p:spPr>
          <a:xfrm>
            <a:off x="62280" y="5318280"/>
            <a:ext cx="8974080" cy="81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On appelle </a:t>
            </a:r>
            <a:r>
              <a:rPr lang="en-US" sz="1200" b="1" i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l’image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cours de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l’exécution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programme est statique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 processus représente la dynamique de son exécution.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Définitions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2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3" name="Text Box 3"/>
          <p:cNvSpPr/>
          <p:nvPr/>
        </p:nvSpPr>
        <p:spPr>
          <a:xfrm>
            <a:off x="45720" y="1521000"/>
            <a:ext cx="8729640" cy="246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cours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auquel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associé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environnement processeur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(CO, PSW, RSP, registres généraux) et un environnement mémoire (zone de code, de données et de pile)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appelés contexte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processus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l’instance dynamique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incarne le fil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celui-ci dans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espace d’adressage protégé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c’est-à-dire sur une plage mémoire dont l’accès lui est réservé.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réentrant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un programme pour lequel il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exister plusieurs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instances d’exécutions simultanées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désigne toute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entité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dont 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besoin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s'exécuter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matérielle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(processeur, périphérique)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logicielle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(variable)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ressource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caractérisé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libre / occupée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nombre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points d'accès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(nombre de processus pouvant l'utiliser en même temps)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États d’un processus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2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6" name="Text Box 3"/>
          <p:cNvSpPr/>
          <p:nvPr/>
        </p:nvSpPr>
        <p:spPr>
          <a:xfrm>
            <a:off x="35640" y="1557000"/>
            <a:ext cx="4314600" cy="136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caractérisé par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bloqué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d’attente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 que le processeur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d’attente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2)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97" name="Picture 2" descr="etats_processus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640" y="2784960"/>
            <a:ext cx="5257440" cy="2948040"/>
          </a:xfrm>
          <a:prstGeom prst="rect">
            <a:avLst/>
          </a:prstGeom>
          <a:ln w="0">
            <a:noFill/>
          </a:ln>
        </p:spPr>
      </p:pic>
      <p:sp>
        <p:nvSpPr>
          <p:cNvPr id="198" name="Text Box 2"/>
          <p:cNvSpPr/>
          <p:nvPr/>
        </p:nvSpPr>
        <p:spPr>
          <a:xfrm>
            <a:off x="2271600" y="5733360"/>
            <a:ext cx="34912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4 : Diagramme d’états d’un processus.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9" name="Text Box 4"/>
          <p:cNvSpPr/>
          <p:nvPr/>
        </p:nvSpPr>
        <p:spPr>
          <a:xfrm>
            <a:off x="324000" y="6020280"/>
            <a:ext cx="864144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toujours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Un processus se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toujours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partir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 (sauf anomalie).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Bloc de contrôle du processus </a:t>
            </a:r>
            <a:br>
              <a:rPr sz="20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(</a:t>
            </a:r>
            <a:r>
              <a:rPr lang="fr-FR" sz="2000" b="0" i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PCB :  Process Control Block</a:t>
            </a: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)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2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2" name="Text Box 3"/>
          <p:cNvSpPr/>
          <p:nvPr/>
        </p:nvSpPr>
        <p:spPr>
          <a:xfrm>
            <a:off x="35640" y="1773000"/>
            <a:ext cx="6393960" cy="136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même temps 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chargement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programme en MC,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d’exploitation crée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structure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description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associé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exécutable,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PCB. </a:t>
            </a: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3)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PCB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sauvegarde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restauration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contexte mémoire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du contexte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des opérations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commutations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contexte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3" name="Text Box 2"/>
          <p:cNvSpPr/>
          <p:nvPr/>
        </p:nvSpPr>
        <p:spPr>
          <a:xfrm>
            <a:off x="6433920" y="5589360"/>
            <a:ext cx="2663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5 : Bloc de contrôle de processus.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04" name="Picture 1" descr="PCB"/>
          <p:cNvPicPr/>
          <p:nvPr/>
        </p:nvPicPr>
        <p:blipFill>
          <a:blip r:embed="rId1"/>
          <a:stretch>
            <a:fillRect/>
          </a:stretch>
        </p:blipFill>
        <p:spPr>
          <a:xfrm>
            <a:off x="6388200" y="1557000"/>
            <a:ext cx="2755440" cy="4051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Opérations sur les processus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2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7" name="Text Box 1"/>
          <p:cNvSpPr/>
          <p:nvPr/>
        </p:nvSpPr>
        <p:spPr>
          <a:xfrm>
            <a:off x="107280" y="1416600"/>
            <a:ext cx="8946720" cy="428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d’exploitation offre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généralement 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opérations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suivantes pour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gestion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création de processus, destruction de processus, suspension de l’exécution et reprise de celle-ci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ou plusieurs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autres 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invoquant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 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création de processus (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fork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sous Linux, </a:t>
            </a: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note 4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), se développe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arbre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filiation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processus (</a:t>
            </a:r>
            <a:r>
              <a:rPr lang="fr-FR" sz="1200" b="0" i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pére -&gt; fils -&gt; petit-fils -&gt; ....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Destruction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intervient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exécution, il 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s’autodétruit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appelant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routine 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fin d’exécution (par exemple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exit()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sous Unix);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commet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erreur irrécouvrable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trappe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levée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 processus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lorsqu’un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 processus demande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destruction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processus,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biais 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une routine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telle que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kill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sous Unix.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destruction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processus,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contexte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celui-ci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démantelé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allouées au processus sont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libérées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contrôle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détruit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Suspension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: 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opération qui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consiste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momentanément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arrêter l’exécution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reprendre ultérieurement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contexte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sauvegardé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PCB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afin de pouvoir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reprendre l’exécution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là où elle a été suspendue.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processus suspendu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bloqué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 sa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reprise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d’exécution, le processus franchit la transition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déblocage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entre dans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Sous les systèmes Linux ou Unix,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l’appel système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sleep(duree)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permet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suspendre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l’exécution 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un temps égal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duree secondes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Un exemple de processus : les processus Unix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2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10" name="Picture 1" descr="Arborescence des processus Unix"/>
          <p:cNvPicPr/>
          <p:nvPr/>
        </p:nvPicPr>
        <p:blipFill>
          <a:blip r:embed="rId1"/>
          <a:stretch>
            <a:fillRect/>
          </a:stretch>
        </p:blipFill>
        <p:spPr>
          <a:xfrm>
            <a:off x="3622680" y="1604160"/>
            <a:ext cx="5421960" cy="4633200"/>
          </a:xfrm>
          <a:prstGeom prst="rect">
            <a:avLst/>
          </a:prstGeom>
          <a:ln w="0">
            <a:noFill/>
          </a:ln>
        </p:spPr>
      </p:pic>
      <p:sp>
        <p:nvSpPr>
          <p:cNvPr id="211" name="Text Box 2"/>
          <p:cNvSpPr/>
          <p:nvPr/>
        </p:nvSpPr>
        <p:spPr>
          <a:xfrm>
            <a:off x="3492000" y="6237720"/>
            <a:ext cx="289476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6 :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Arborescence des processus Unix.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2" name="Text Box 5"/>
          <p:cNvSpPr/>
          <p:nvPr/>
        </p:nvSpPr>
        <p:spPr>
          <a:xfrm>
            <a:off x="25560" y="1455480"/>
            <a:ext cx="5650560" cy="136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système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Unix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entièrement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construit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partir de la notion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démarrage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système,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premier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est créé,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0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Ce processus 0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tour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 processus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processus 1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encore appelé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init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init lit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fichier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/etc/inittab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chacun 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types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décrits dans ce fichier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3" name="Text Box 6"/>
          <p:cNvSpPr/>
          <p:nvPr/>
        </p:nvSpPr>
        <p:spPr>
          <a:xfrm>
            <a:off x="67320" y="3580200"/>
            <a:ext cx="3639960" cy="136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systemd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gestionnaire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services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Linux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Il est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d'init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défaut dans Debian depuis Debian 8 (« Jessie »).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Systemd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compatible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avec les scripts d'init SysV et LSB. Il peut fonctionner comme un remplaçant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sysvinit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4" name="Text Box 7"/>
          <p:cNvSpPr/>
          <p:nvPr/>
        </p:nvSpPr>
        <p:spPr>
          <a:xfrm>
            <a:off x="176040" y="3328560"/>
            <a:ext cx="28839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Notes :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Un exemple de processus : les processus Unix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2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7" name="Text Box 2"/>
          <p:cNvSpPr/>
          <p:nvPr/>
        </p:nvSpPr>
        <p:spPr>
          <a:xfrm>
            <a:off x="5264280" y="4006800"/>
            <a:ext cx="31417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Figure 7 :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 de contrôle d’un processus Unix.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8" name="Text Box 5"/>
          <p:cNvSpPr/>
          <p:nvPr/>
        </p:nvSpPr>
        <p:spPr>
          <a:xfrm>
            <a:off x="0" y="1525320"/>
            <a:ext cx="4140360" cy="264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Unix 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décrit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contrôle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divisé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parties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dispose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une table générale du système,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table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processus,  contient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informations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sur le processus 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utiles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processus, les informations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d’ordonnancement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les informations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dispose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également d’une autre structure,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Zone U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contient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d’autres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informations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concernant le processus qui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peuvent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être temporairement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déplacées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disque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quand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dans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bloqué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depuis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certain temps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19" name="Picture 3" descr="Bloc de contrôle d’un processus Unix"/>
          <p:cNvPicPr/>
          <p:nvPr/>
        </p:nvPicPr>
        <p:blipFill>
          <a:blip r:embed="rId1"/>
          <a:stretch>
            <a:fillRect/>
          </a:stretch>
        </p:blipFill>
        <p:spPr>
          <a:xfrm>
            <a:off x="4378320" y="1628640"/>
            <a:ext cx="4765320" cy="2668680"/>
          </a:xfrm>
          <a:prstGeom prst="rect">
            <a:avLst/>
          </a:prstGeom>
          <a:ln w="0">
            <a:noFill/>
          </a:ln>
        </p:spPr>
      </p:pic>
      <p:sp>
        <p:nvSpPr>
          <p:cNvPr id="220" name="Text Box 4"/>
          <p:cNvSpPr/>
          <p:nvPr/>
        </p:nvSpPr>
        <p:spPr>
          <a:xfrm>
            <a:off x="5264280" y="4437360"/>
            <a:ext cx="3220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7 :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 de contrôle d’un processus Unix.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Un exemple de processus : les processus Unix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2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3" name="Text Box 5"/>
          <p:cNvSpPr/>
          <p:nvPr/>
        </p:nvSpPr>
        <p:spPr>
          <a:xfrm>
            <a:off x="0" y="1525320"/>
            <a:ext cx="6363000" cy="246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Unix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évolue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trois modes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cours de 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mode utilisateur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 mode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classique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mode noyau en mémoire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 trouve dans un 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suivants, passé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mode superviseur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bloqué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(endormi).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mode swappé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qui est le mode dans lequel se trouve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bloqué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(endormi)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déchargé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centrale. Ces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réintègrent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mémoire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centrale lorsqu’ils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redeviennent prêts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(transition de l’état prêt swappé vers l’état prêt).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4" name="Text Box 4"/>
          <p:cNvSpPr/>
          <p:nvPr/>
        </p:nvSpPr>
        <p:spPr>
          <a:xfrm>
            <a:off x="4643640" y="6021720"/>
            <a:ext cx="3782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8 : </a:t>
            </a:r>
            <a:r>
              <a:rPr lang="en-US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Diagramme d’états simplifié d’un processus Unix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25" name="Picture 1" descr="Diagramme d’états simplifié d’un processus Unix"/>
          <p:cNvPicPr/>
          <p:nvPr/>
        </p:nvPicPr>
        <p:blipFill>
          <a:blip r:embed="rId1"/>
          <a:stretch>
            <a:fillRect/>
          </a:stretch>
        </p:blipFill>
        <p:spPr>
          <a:xfrm>
            <a:off x="3492000" y="3373920"/>
            <a:ext cx="5571720" cy="2676240"/>
          </a:xfrm>
          <a:prstGeom prst="rect">
            <a:avLst/>
          </a:prstGeom>
          <a:ln w="0">
            <a:noFill/>
          </a:ln>
        </p:spPr>
      </p:pic>
      <p:sp>
        <p:nvSpPr>
          <p:cNvPr id="226" name="Text Box 6"/>
          <p:cNvSpPr/>
          <p:nvPr/>
        </p:nvSpPr>
        <p:spPr>
          <a:xfrm>
            <a:off x="117360" y="4257000"/>
            <a:ext cx="3302280" cy="81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Unix qui se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termine passe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zombi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Il y reste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tant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PCB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n’est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 entièrement démantelé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système.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7" name="Text Box 2"/>
          <p:cNvSpPr/>
          <p:nvPr/>
        </p:nvSpPr>
        <p:spPr>
          <a:xfrm>
            <a:off x="115560" y="5669280"/>
            <a:ext cx="337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Démo : diapos12/exemple-status.c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Programmation de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2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0" name="Text Box 1"/>
          <p:cNvSpPr/>
          <p:nvPr/>
        </p:nvSpPr>
        <p:spPr>
          <a:xfrm>
            <a:off x="59040" y="1481400"/>
            <a:ext cx="9048960" cy="249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Principaux attributs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Linux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caractérisé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 numéro unique appelé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entier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32 bits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qui lui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attribué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système au moment de sa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création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ailleurs, 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Linux pouvant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lui-même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 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également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caractérisé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l'identifiant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processus qui l'a créé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père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), appelé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données ci-dessous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permettent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respectivement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connaître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valeur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de son père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&lt;unistd.h&gt;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getpid(void); retourne le PID du processus appelant.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getppid(void); retourne le PPID du processus appelant.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Exemple : pid_t ret ; — déclaration variable ret de type pid_t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ret = getpid()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1" name="Text Box 2"/>
          <p:cNvSpPr/>
          <p:nvPr/>
        </p:nvSpPr>
        <p:spPr>
          <a:xfrm>
            <a:off x="25560" y="3947760"/>
            <a:ext cx="9082800" cy="194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Création d'un processus Linux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Sous le système Linux, tout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nouveau 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est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exacte copie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lui-même.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créateur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par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fork()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fils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est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copie exacte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lui-même (code et données).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fonction est le suivant: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&lt;unistd.h&gt;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fork (void);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code retour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fork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est différent chez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(toujours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0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et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créé).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Programmation de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2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4" name="Text Box 3"/>
          <p:cNvSpPr/>
          <p:nvPr/>
        </p:nvSpPr>
        <p:spPr>
          <a:xfrm>
            <a:off x="35640" y="1629360"/>
            <a:ext cx="9074520" cy="5078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Création d'un processus Linux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Exemple </a:t>
            </a:r>
            <a:r>
              <a:rPr lang="fr-FR" sz="14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5)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&lt;errno.h&gt;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&lt;stdio.h&gt;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&lt;stdlib.h&gt;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&lt;unistd.h&gt;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&lt;sys/wait.h&gt;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main()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ret;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ret = fork();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if (ret == 0)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fils; mon pid est %d\n", getpid());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printf("pid de mon père, %d\n", getppid());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return 0;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else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père; mon pid est %d\n", getpid());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printf("pid de mon fils, %d\n", ret);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wait(NULL); // Pour attendre la fin d'exécution du fils.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return 0;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Programmation de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2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7" name="Text Box 2"/>
          <p:cNvSpPr/>
          <p:nvPr/>
        </p:nvSpPr>
        <p:spPr>
          <a:xfrm>
            <a:off x="0" y="1557000"/>
            <a:ext cx="9082800" cy="3040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d'un processus Linux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termine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normalement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achevant l’exécution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code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lui est associé. Cette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s’effectue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biais 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exit()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fonction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exit()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est le suivant: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&lt;stdlib.h&gt;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void exit (int status);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status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un code retour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compris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0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255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transmis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défunt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0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caracérise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normale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processus et une valeur supérieure à 0 code une fin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anormale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désalloue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ressources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mais 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détruit pas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contrôle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 la valeur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TASK_ZOMBIE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puis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avertit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défunt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reste zombie jusqu'à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ce que 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ait pris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connaissance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sa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mort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orphelin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suite au décès de son père (le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père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s'est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terminé avant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est toujours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adopté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numéro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1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Init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). </a:t>
            </a:r>
            <a:r>
              <a:rPr lang="fr-FR" sz="1200" b="1" strike="noStrike" spc="-1">
                <a:solidFill>
                  <a:srgbClr val="FF0000"/>
                </a:solidFill>
                <a:latin typeface="Arial" panose="020B0604020202020204"/>
                <a:ea typeface="DejaVu Sans" panose="020B0606030804020204"/>
              </a:rPr>
              <a:t>(faire démo : exemple-zombie-1.c et exemple-zombie-2.c)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8" name="Text Box 3"/>
          <p:cNvSpPr/>
          <p:nvPr/>
        </p:nvSpPr>
        <p:spPr>
          <a:xfrm>
            <a:off x="35640" y="4436280"/>
            <a:ext cx="9088920" cy="194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Synchronisation avec le père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père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 mettre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attente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mort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l’un de ses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par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biais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wait()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Lorsque le processus père prend connaissance 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mort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l’un de ses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il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détruit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bloc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contrôle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fonction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wait()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le suivant: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&lt;sys/wait.h&gt;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wait (int *status);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fonction retourne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immédiatement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fils terminé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code retour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celui-ci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variable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status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L’exécution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père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suspendue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jusqu’à ce qu’un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fils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ermine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Programmation de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ldNum" idx="3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1" name="Text Box 3"/>
          <p:cNvSpPr/>
          <p:nvPr/>
        </p:nvSpPr>
        <p:spPr>
          <a:xfrm>
            <a:off x="35640" y="1338480"/>
            <a:ext cx="9074520" cy="5413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Terminaison du processus fils et affichage de sa valeur de retour 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Exemple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&lt;stdio.h&gt;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&lt;stdlib.h&gt;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&lt;unistd.h&gt;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&lt;sys/wait.h&gt;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main()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pid_t ret, fils_mort;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status;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ret = fork();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if (ret == 0)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fils; mon pid est %d\n", getpid());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printf("pid de mon père, %d\n", getppid());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exit(0);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else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{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père; mon pid est %d\n", getpid());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printf("pid de mon fils, %d\n", ret);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fils_mort = wait(&amp;status);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père; le pid de mon fils mort est %d\n",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fils_mort);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if (WIFEXITED(status))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printf("je suis le père; le code retour de mon fils est %d\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          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n", WEXITSTATUS(status)); // vrai si le processus fils s’est terminé par un appel à la primitive exit() 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}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Langage de commandes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3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4" name="Text Box 1"/>
          <p:cNvSpPr/>
          <p:nvPr/>
        </p:nvSpPr>
        <p:spPr>
          <a:xfrm>
            <a:off x="50760" y="1551240"/>
            <a:ext cx="905724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Depuis 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terminal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un utilisateur dispose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commandes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lui permettant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visualiser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gérer ses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5" name="Text Box 2"/>
          <p:cNvSpPr/>
          <p:nvPr/>
        </p:nvSpPr>
        <p:spPr>
          <a:xfrm>
            <a:off x="29880" y="1981080"/>
            <a:ext cx="9078120" cy="4044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Commande ps : connaître les processus existants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 d’obtenir 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informations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l’ensemble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cours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ps -lu komo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 S   UID     PID    PPID  C PRI  NI ADDR SZ WCHAN  TTY          TIME CMD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4 S  1000    1710       1  0  80   0 -  4825 do_epo ?        00:00:00 systemd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5 S  1000    1711    1710  0  80   0 - 42331 -      ?        00:00:00 (sd-pam)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0 S  1000    1726    1710  0  69 -11 - 20220 do_epo ?        00:08:28 pipewire</a:t>
            </a: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Affiche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appartenant à l’utilisateur spécifié (ici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komo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traces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ci-dessus,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champs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affichés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correspondent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aux informations suivantes </a:t>
            </a: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8)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utilisateur (UID)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indique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l’identifiant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l’utilisateur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ayant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lancé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programme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(Processus Identifier)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correspond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l’entier attribué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l’identifier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ppid (Parent Processus Identifier)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correspond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l’identifiant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parent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ayant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engendré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 (S, STA ou STATE)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état défini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l’ordonnanceur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système, plusieurs valeurs sont possibles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00150" lvl="2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Stopped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en sommeil (état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endormi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bloqué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00150" lvl="2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Running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s’exécuter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00150" lvl="2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Z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l’état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zombie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généralement, la commande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ps aux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permet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d’afficher toutes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informations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associées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cours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 système.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36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NOTION DE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 Langage de commandes Processus : l’exemple de Linux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Times New Roman" panose="02020603050405020304"/>
                <a:ea typeface="SimSun"/>
              </a:rPr>
              <a:t>18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48" name="Text Box 2"/>
          <p:cNvSpPr/>
          <p:nvPr/>
        </p:nvSpPr>
        <p:spPr>
          <a:xfrm>
            <a:off x="29880" y="1191960"/>
            <a:ext cx="9078120" cy="2219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Commande kill : arrêter l’exécution d’un processus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d’envoyer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signal est un moyen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communication entre processus.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identifié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numéro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kill –numerosignal pid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envoie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signal «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numerosignal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» 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numéro «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pid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».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Lors 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compte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l’arrivée 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signal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traitement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défaut associé à ce signal.</a:t>
            </a: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attacher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fonction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qu’il souhaite voir exécutée :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signal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dit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capté</a:t>
            </a: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signaux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permettent à l’utilisateur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forcer l’arrêt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Ce sont les signaux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SIGTERM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numéro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15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Ce signal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demande l’arrêt d’un 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 Il peut être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capté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SIGKILL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numéro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9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Ce signal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force le processus à se terminer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; il ne peut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être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capté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9" name="Text Box 3"/>
          <p:cNvSpPr/>
          <p:nvPr/>
        </p:nvSpPr>
        <p:spPr>
          <a:xfrm>
            <a:off x="17280" y="3390120"/>
            <a:ext cx="3574080" cy="5843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cat &gt;  essai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sleep 100                                                                                                                                   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./essai&amp;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[1] 841103                                                                                                                                   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ps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 TTY          TIME CMD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288073 pts/1    00:00:01 zsh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841103 pts/1    00:00:00 sh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841105 pts/1    00:00:00 sleep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841132 pts/1    00:00:00 ps                                                                                                                                   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0" name="Text Box 4"/>
          <p:cNvSpPr/>
          <p:nvPr/>
        </p:nvSpPr>
        <p:spPr>
          <a:xfrm>
            <a:off x="3715920" y="3462120"/>
            <a:ext cx="3293280" cy="4352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kill 841105                                                                                                                                   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Terminated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[1]  + exit 143   ./essai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(base) ┌──(komo</a:t>
            </a:r>
            <a:r>
              <a:rPr lang="zh-CN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㉿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kali)-[~]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└─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$ ps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  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 TTY          TIME CMD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288073 pts/1    00:00:01 zsh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841246 pts/1    00:00:00 ps                                                                                                                                      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1" name="Text Box 5"/>
          <p:cNvSpPr/>
          <p:nvPr/>
        </p:nvSpPr>
        <p:spPr>
          <a:xfrm>
            <a:off x="184680" y="6487200"/>
            <a:ext cx="53229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traces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ci-dessus montre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l’action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commande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kill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Introduction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ldNum" idx="3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54" name="Text Box 1"/>
          <p:cNvSpPr/>
          <p:nvPr/>
        </p:nvSpPr>
        <p:spPr>
          <a:xfrm>
            <a:off x="36360" y="1416600"/>
            <a:ext cx="908316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fonction d’ordonnancement gère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partage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entre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différents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attente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s’exécuter, c’est-à-dire entre les différents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dans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prêt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55" name="Picture 2" descr="diapos18"/>
          <p:cNvPicPr/>
          <p:nvPr/>
        </p:nvPicPr>
        <p:blipFill>
          <a:blip r:embed="rId1"/>
          <a:stretch>
            <a:fillRect/>
          </a:stretch>
        </p:blipFill>
        <p:spPr>
          <a:xfrm>
            <a:off x="1260000" y="1844640"/>
            <a:ext cx="6101280" cy="4265640"/>
          </a:xfrm>
          <a:prstGeom prst="rect">
            <a:avLst/>
          </a:prstGeom>
          <a:ln w="0">
            <a:noFill/>
          </a:ln>
        </p:spPr>
      </p:pic>
      <p:sp>
        <p:nvSpPr>
          <p:cNvPr id="256" name="Text Box 4"/>
          <p:cNvSpPr/>
          <p:nvPr/>
        </p:nvSpPr>
        <p:spPr>
          <a:xfrm>
            <a:off x="1623240" y="6165360"/>
            <a:ext cx="49298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9 : Exemple d’ordonnancement de processus par le système </a:t>
            </a:r>
            <a:r>
              <a:rPr lang="fr-FR" sz="10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9)</a:t>
            </a: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Ordonnancement préemptif et non préemptif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sldNum" idx="3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59" name="Picture 1" descr="diapos19"/>
          <p:cNvPicPr/>
          <p:nvPr/>
        </p:nvPicPr>
        <p:blipFill>
          <a:blip r:embed="rId1"/>
          <a:stretch>
            <a:fillRect/>
          </a:stretch>
        </p:blipFill>
        <p:spPr>
          <a:xfrm>
            <a:off x="4174560" y="1484640"/>
            <a:ext cx="4871880" cy="2733480"/>
          </a:xfrm>
          <a:prstGeom prst="rect">
            <a:avLst/>
          </a:prstGeom>
          <a:ln w="0">
            <a:noFill/>
          </a:ln>
        </p:spPr>
      </p:pic>
      <p:sp>
        <p:nvSpPr>
          <p:cNvPr id="260" name="Text Box 4"/>
          <p:cNvSpPr/>
          <p:nvPr/>
        </p:nvSpPr>
        <p:spPr>
          <a:xfrm>
            <a:off x="5724000" y="4365000"/>
            <a:ext cx="32522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10 : Opérations d’élection et de préemption.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1" name="Text Box 2"/>
          <p:cNvSpPr/>
          <p:nvPr/>
        </p:nvSpPr>
        <p:spPr>
          <a:xfrm>
            <a:off x="0" y="1484640"/>
            <a:ext cx="4116240" cy="3557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passage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élu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vers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été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ajouté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rapport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figure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4 (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diapos 7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)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il correspond à une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réquisition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c’est-à-dire que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retiré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élu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alors que celui-ci dispose de toutes les ressources nécessaires à la poursuite de son exécution. Cette réquisition porte le nom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Ainsi selon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l’opération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réquisition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autorisée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qualifié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d’ordonnancement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préemptif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 préemptif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l’ordonnancement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 préemptif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transition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élu vers l’état prêt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interdite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un processus quitte le processeur s’il a terminé son exécution ou s’il se bloque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l’ordonnancement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préemptif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transition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l’état élu vers l’état prêt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autorisée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quitte le processeur s’il a terminé son exécution, s’il se bloque ou si le processeur est réquisitionné.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Ordonnancement préemptif et non préemptif</a:t>
            </a:r>
            <a:br>
              <a:rPr sz="2000"/>
            </a:b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ldNum" idx="3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64" name="Picture 1" descr="diapos20"/>
          <p:cNvPicPr/>
          <p:nvPr/>
        </p:nvPicPr>
        <p:blipFill>
          <a:blip r:embed="rId1"/>
          <a:stretch>
            <a:fillRect/>
          </a:stretch>
        </p:blipFill>
        <p:spPr>
          <a:xfrm>
            <a:off x="591120" y="1556280"/>
            <a:ext cx="8408880" cy="4461840"/>
          </a:xfrm>
          <a:prstGeom prst="rect">
            <a:avLst/>
          </a:prstGeom>
          <a:ln w="0">
            <a:noFill/>
          </a:ln>
        </p:spPr>
      </p:pic>
      <p:sp>
        <p:nvSpPr>
          <p:cNvPr id="265" name="Text Box 4"/>
          <p:cNvSpPr/>
          <p:nvPr/>
        </p:nvSpPr>
        <p:spPr>
          <a:xfrm>
            <a:off x="2844000" y="6000120"/>
            <a:ext cx="43894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11 : Déroulement des opérations d’ordonnancement. </a:t>
            </a:r>
            <a:r>
              <a:rPr lang="fr-FR" sz="10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10)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Entités systèmes responsable de l’ordonnancement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ldNum" idx="3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8" name="Text Box 4"/>
          <p:cNvSpPr/>
          <p:nvPr/>
        </p:nvSpPr>
        <p:spPr>
          <a:xfrm>
            <a:off x="2700000" y="6245280"/>
            <a:ext cx="32324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12 : Ordonnanceur et répartiteur. </a:t>
            </a:r>
            <a:r>
              <a:rPr lang="fr-FR" sz="10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11)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69" name="Picture 2" descr="diapos21"/>
          <p:cNvPicPr/>
          <p:nvPr/>
        </p:nvPicPr>
        <p:blipFill>
          <a:blip r:embed="rId1"/>
          <a:stretch>
            <a:fillRect/>
          </a:stretch>
        </p:blipFill>
        <p:spPr>
          <a:xfrm>
            <a:off x="971640" y="2493000"/>
            <a:ext cx="7036200" cy="3754440"/>
          </a:xfrm>
          <a:prstGeom prst="rect">
            <a:avLst/>
          </a:prstGeom>
          <a:ln w="0">
            <a:noFill/>
          </a:ln>
        </p:spPr>
      </p:pic>
      <p:sp>
        <p:nvSpPr>
          <p:cNvPr id="270" name="Text Box 3"/>
          <p:cNvSpPr/>
          <p:nvPr/>
        </p:nvSpPr>
        <p:spPr>
          <a:xfrm>
            <a:off x="42480" y="1616040"/>
            <a:ext cx="8642520" cy="100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prêts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bloqués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gérés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files d’attentes distinctes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chaînent leur PCB.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module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(scheduler)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telle sorte que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prochain 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élire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soit toujours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tête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tri s’appuie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sur un critère donné spécifié par la </a:t>
            </a:r>
            <a:r>
              <a:rPr lang="fr-FR" sz="1200" b="1" strike="noStrike" spc="-1">
                <a:solidFill>
                  <a:srgbClr val="FF0000"/>
                </a:solidFill>
                <a:latin typeface="Arial" panose="020B0604020202020204"/>
                <a:ea typeface="DejaVu Sans" panose="020B0606030804020204"/>
              </a:rPr>
              <a:t>politique d’ordonnancement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Politiques d’ordonnancement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3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3" name="Text Box 1"/>
          <p:cNvSpPr/>
          <p:nvPr/>
        </p:nvSpPr>
        <p:spPr>
          <a:xfrm>
            <a:off x="33480" y="1680840"/>
            <a:ext cx="907452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d’ordonnancement détermine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quel sera le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prochain processus élu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Selon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autorisée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non,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d’ordonnancement sera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type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préemptive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4" name="Text Box 2"/>
          <p:cNvSpPr/>
          <p:nvPr/>
        </p:nvSpPr>
        <p:spPr>
          <a:xfrm>
            <a:off x="0" y="2349000"/>
            <a:ext cx="9108720" cy="249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Objectifs des politiques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objectifs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atteindre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matière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d’ordonnancement diffèrent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selon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types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considérés. 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 révélera plus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appropriée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certain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type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plutôt qu’à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un système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traitements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lots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 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maximiser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débit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capacité de traitement,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un système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partagé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maximiser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taux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d’occupation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tout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minimisant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réponse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un système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réel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 le but recherché est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respecter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contraintes temporelles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Différents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critères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utilisés pour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mesurer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performances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politiques d’ordonnancement </a:t>
            </a:r>
            <a:r>
              <a:rPr lang="fr-FR" sz="12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(note 12)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taux d’occupation du processeur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capacité de traitement du processeur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temps d’attente des processus 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temps de réponse des processus.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Politiques d’ordonnancement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3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7" name="Text Box 2"/>
          <p:cNvSpPr/>
          <p:nvPr/>
        </p:nvSpPr>
        <p:spPr>
          <a:xfrm>
            <a:off x="0" y="1559520"/>
            <a:ext cx="910872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Présentation des politiques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présentons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présent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politiques d’ordonnancement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plus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courantes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8" name="Text Box 3"/>
          <p:cNvSpPr/>
          <p:nvPr/>
        </p:nvSpPr>
        <p:spPr>
          <a:xfrm>
            <a:off x="0" y="2276640"/>
            <a:ext cx="4487760" cy="1762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A.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Premier Arrivé, Premier Servi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selon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l’ordre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lequel ils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arrivent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d’attente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prêts.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Il n’y 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réquisition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L’avantage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cette politique est sa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simplicité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Inconvénient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petit temps 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pénalisés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terme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réponse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grand temps 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qui se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trouvent avant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eux dans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d’attente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79" name="Picture 4" descr="diapos22"/>
          <p:cNvPicPr/>
          <p:nvPr/>
        </p:nvPicPr>
        <p:blipFill>
          <a:blip r:embed="rId1"/>
          <a:stretch>
            <a:fillRect/>
          </a:stretch>
        </p:blipFill>
        <p:spPr>
          <a:xfrm>
            <a:off x="4434840" y="2337480"/>
            <a:ext cx="4610520" cy="2483640"/>
          </a:xfrm>
          <a:prstGeom prst="rect">
            <a:avLst/>
          </a:prstGeom>
          <a:ln w="0">
            <a:noFill/>
          </a:ln>
        </p:spPr>
      </p:pic>
      <p:sp>
        <p:nvSpPr>
          <p:cNvPr id="280" name="Text Box 5"/>
          <p:cNvSpPr/>
          <p:nvPr/>
        </p:nvSpPr>
        <p:spPr>
          <a:xfrm>
            <a:off x="5148000" y="5013360"/>
            <a:ext cx="34668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13 : Politique « Premier Arrivé, Premier Servi ».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Politiques d’ordonnancement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ldNum" idx="3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3" name="Text Box 3"/>
          <p:cNvSpPr/>
          <p:nvPr/>
        </p:nvSpPr>
        <p:spPr>
          <a:xfrm>
            <a:off x="0" y="1484640"/>
            <a:ext cx="8249040" cy="17811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B.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Plus Court d’Abord</a:t>
            </a:r>
            <a:endParaRPr lang="en-US" sz="1400" b="1" strike="noStrike" spc="-1">
              <a:solidFill>
                <a:srgbClr val="000000"/>
              </a:solidFill>
              <a:latin typeface="Arial" panose="020B0604020202020204"/>
              <a:ea typeface="DejaVu Sans" panose="020B0606030804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petit temps 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celui qui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premier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politique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sans réquisition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Remédie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l’inconvénient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cité pour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précédente 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« Premier Arrivé, Premier Servi »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optimale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 sens où elle permet d’obtenir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réponse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moyen minimal pour un ensemble de processus donné.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difficulté 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connaissance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priori 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d’exécution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processus.  Cette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connaissance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n’est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 disponible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interactif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essentiellement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mise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œuvre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traitement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lots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4" name="Text Box 5"/>
          <p:cNvSpPr/>
          <p:nvPr/>
        </p:nvSpPr>
        <p:spPr>
          <a:xfrm>
            <a:off x="2987640" y="6021000"/>
            <a:ext cx="28652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14 : Politique « Plus Court d’Abord ».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85" name="Picture 1" descr="diapos23"/>
          <p:cNvPicPr/>
          <p:nvPr/>
        </p:nvPicPr>
        <p:blipFill>
          <a:blip r:embed="rId1"/>
          <a:stretch>
            <a:fillRect/>
          </a:stretch>
        </p:blipFill>
        <p:spPr>
          <a:xfrm>
            <a:off x="1764720" y="3285000"/>
            <a:ext cx="5415480" cy="2674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Politiques d’ordonnancement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sldNum" idx="4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8" name="Text Box 3"/>
          <p:cNvSpPr/>
          <p:nvPr/>
        </p:nvSpPr>
        <p:spPr>
          <a:xfrm>
            <a:off x="0" y="1484640"/>
            <a:ext cx="5159160" cy="2310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C. </a:t>
            </a: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par priorité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très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courante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possède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nombre positif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Selon le système d’exploitation, une valeur basse est plus prioritaire qu’une valeur haute ou inversement.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Cette politique se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décline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deux versions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selon si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réquisition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autorisée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16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donne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exemple d’application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cette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mode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préemptif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en mode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non préemptif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inconvénient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cette politique est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risque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famine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petite priorité si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il y a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nombreux 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haute 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 On dit aussi qu’il y 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coalition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 de forte priorité contre les processus de faible priorité.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9" name="Text Box 5"/>
          <p:cNvSpPr/>
          <p:nvPr/>
        </p:nvSpPr>
        <p:spPr>
          <a:xfrm>
            <a:off x="971640" y="6451560"/>
            <a:ext cx="22140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15 : Politique par priorité.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90" name="Picture 2" descr="diapos24"/>
          <p:cNvPicPr/>
          <p:nvPr/>
        </p:nvPicPr>
        <p:blipFill>
          <a:blip r:embed="rId1"/>
          <a:stretch>
            <a:fillRect/>
          </a:stretch>
        </p:blipFill>
        <p:spPr>
          <a:xfrm>
            <a:off x="35640" y="3931920"/>
            <a:ext cx="4354560" cy="2542680"/>
          </a:xfrm>
          <a:prstGeom prst="rect">
            <a:avLst/>
          </a:prstGeom>
          <a:ln w="0">
            <a:noFill/>
          </a:ln>
        </p:spPr>
      </p:pic>
      <p:pic>
        <p:nvPicPr>
          <p:cNvPr id="291" name="Picture 4" descr="diapos24-figure16"/>
          <p:cNvPicPr/>
          <p:nvPr/>
        </p:nvPicPr>
        <p:blipFill>
          <a:blip r:embed="rId2"/>
          <a:stretch>
            <a:fillRect/>
          </a:stretch>
        </p:blipFill>
        <p:spPr>
          <a:xfrm>
            <a:off x="5220360" y="1700640"/>
            <a:ext cx="3693600" cy="3640680"/>
          </a:xfrm>
          <a:prstGeom prst="rect">
            <a:avLst/>
          </a:prstGeom>
          <a:ln w="0">
            <a:noFill/>
          </a:ln>
        </p:spPr>
      </p:pic>
      <p:sp>
        <p:nvSpPr>
          <p:cNvPr id="292" name="Text Box 6"/>
          <p:cNvSpPr/>
          <p:nvPr/>
        </p:nvSpPr>
        <p:spPr>
          <a:xfrm>
            <a:off x="5057280" y="5517000"/>
            <a:ext cx="39758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16 : Politique par priorité préemptive et non préemptive.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Politiques d’ordonnancement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4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95" name="Text Box 3"/>
          <p:cNvSpPr/>
          <p:nvPr/>
        </p:nvSpPr>
        <p:spPr>
          <a:xfrm>
            <a:off x="0" y="1484640"/>
            <a:ext cx="9081360" cy="194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D. Politique du tourniquet (round robin)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mise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œuvre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dits 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partagé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découpé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tranches nommées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quantums de temps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il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s’exécute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plus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durant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 de temps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Si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n’a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pas terminé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l’issue du quantum de temps, il 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préempté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il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réintègre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 prêts mais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fin de file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tête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file des processus prêts est alors à son tour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durée égale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 de temps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valeur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constitue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facteur important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performance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elle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influe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directement sur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nombre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commutations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contexte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6" name="Text Box 6"/>
          <p:cNvSpPr/>
          <p:nvPr/>
        </p:nvSpPr>
        <p:spPr>
          <a:xfrm>
            <a:off x="3418200" y="6237000"/>
            <a:ext cx="23486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17 : Politique du tourniquet.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97" name="Picture 1" descr="diapos25"/>
          <p:cNvPicPr/>
          <p:nvPr/>
        </p:nvPicPr>
        <p:blipFill>
          <a:blip r:embed="rId1"/>
          <a:stretch>
            <a:fillRect/>
          </a:stretch>
        </p:blipFill>
        <p:spPr>
          <a:xfrm>
            <a:off x="1052280" y="3407400"/>
            <a:ext cx="7062120" cy="2814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Exemples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ldNum" idx="4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300" name="Picture 1" descr="diapos26"/>
          <p:cNvPicPr/>
          <p:nvPr/>
        </p:nvPicPr>
        <p:blipFill>
          <a:blip r:embed="rId1"/>
          <a:stretch>
            <a:fillRect/>
          </a:stretch>
        </p:blipFill>
        <p:spPr>
          <a:xfrm>
            <a:off x="179640" y="3429000"/>
            <a:ext cx="3920760" cy="2339640"/>
          </a:xfrm>
          <a:prstGeom prst="rect">
            <a:avLst/>
          </a:prstGeom>
          <a:ln w="0">
            <a:noFill/>
          </a:ln>
        </p:spPr>
      </p:pic>
      <p:sp>
        <p:nvSpPr>
          <p:cNvPr id="301" name="Text Box 6"/>
          <p:cNvSpPr/>
          <p:nvPr/>
        </p:nvSpPr>
        <p:spPr>
          <a:xfrm>
            <a:off x="682560" y="5877000"/>
            <a:ext cx="24188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17 : multifiles sans extinction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2" name="Text Box 2"/>
          <p:cNvSpPr/>
          <p:nvPr/>
        </p:nvSpPr>
        <p:spPr>
          <a:xfrm>
            <a:off x="35640" y="1413000"/>
            <a:ext cx="9107280" cy="136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systèmes actuels combinent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très souvent deux 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que nous avons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vues : celles 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priorités fixes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et celles du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tourniquet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processus prêts est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fait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divisée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autant de sous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qu’il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existe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niveaux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les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Chaque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file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Fi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gérée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tourniquet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avec éventuellement un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Qi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temps propre.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remédier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problème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famine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faible priorité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mécanisme d’extinction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être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mis en œuvre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processus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baisse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cours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son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exécution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303" name="Picture 3" descr="diapos26-2"/>
          <p:cNvPicPr/>
          <p:nvPr/>
        </p:nvPicPr>
        <p:blipFill>
          <a:blip r:embed="rId2"/>
          <a:stretch>
            <a:fillRect/>
          </a:stretch>
        </p:blipFill>
        <p:spPr>
          <a:xfrm>
            <a:off x="4455720" y="3355920"/>
            <a:ext cx="4131000" cy="2505240"/>
          </a:xfrm>
          <a:prstGeom prst="rect">
            <a:avLst/>
          </a:prstGeom>
          <a:ln w="0">
            <a:noFill/>
          </a:ln>
        </p:spPr>
      </p:pic>
      <p:sp>
        <p:nvSpPr>
          <p:cNvPr id="304" name="Text Box 4"/>
          <p:cNvSpPr/>
          <p:nvPr/>
        </p:nvSpPr>
        <p:spPr>
          <a:xfrm>
            <a:off x="5003640" y="5931000"/>
            <a:ext cx="24188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0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Figure 18: multifiles avec extinction</a:t>
            </a:r>
            <a:endParaRPr lang="fr-FR" sz="1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Exemples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4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7" name="Text Box 2"/>
          <p:cNvSpPr/>
          <p:nvPr/>
        </p:nvSpPr>
        <p:spPr>
          <a:xfrm>
            <a:off x="107280" y="1270080"/>
            <a:ext cx="9107280" cy="124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Ordonnancement sous Unix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L’ordonnanceur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Unix est un ordonnanceur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type tourniquet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avec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plusieurs niveaux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instant t,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élu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celui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forte 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effectue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recalcul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mettant en œuvre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principe d’extinction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afin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garantir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équité d’accès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8" name="Text Box 5"/>
          <p:cNvSpPr/>
          <p:nvPr/>
        </p:nvSpPr>
        <p:spPr>
          <a:xfrm>
            <a:off x="52560" y="2540160"/>
            <a:ext cx="9055440" cy="4683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Exemple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Supposons 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toutes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secondes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recalcule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élus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prêts selon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principe suivant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Extinction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compte_UC = compte_UC / 2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où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compte_UC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est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temps CPU consommé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Priorité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= compte_UC/2 + 40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où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40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base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niveau utilisateur.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Soient trois processus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P1, P2 et P3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P1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priorité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40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P2, P3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de priorité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45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P1 s’exécute.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bout d’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1 seconde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P1 : compte_UC = 60/2 = 30 et priorité = 15 + 40 = 55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P2, inchangée : 45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P3, inchangée : 45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P2 est élu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bout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2 secondes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P1 : compte_UC = 30/2 = 15 et priorité = 7 + 40 =  47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P2 : compte_UC = 60/2 = 30 et priorité = 15 + 40 = 55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P3, inchangée : 45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P3 est élu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bout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3 secondes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P1 : compte_UC = 15/2 = 7 et priorité = 3 + 40 =  43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P2 : compte_UC = 30/2 = 15 et priorité = 17 + 40 = 47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085850" lvl="2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P3 : compte_UC = 60/2 = 30 et priorité = 15 + 40 = 55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P1 est de nouveau élu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Exemples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sldNum" idx="4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11" name="Text Box 2"/>
          <p:cNvSpPr/>
          <p:nvPr/>
        </p:nvSpPr>
        <p:spPr>
          <a:xfrm>
            <a:off x="107280" y="1270080"/>
            <a:ext cx="9107280" cy="2554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Ordonnancement sous 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Linux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Principe de l’ordonnancement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 système Linux, chaque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qualifié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système Linux offre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trois politiques d’ordonnancement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différentes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SCHED_FIFO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élit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tout instant le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forte priorité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parmi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attachés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cette classe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SCHED_RR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est une politique de type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tourniquet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même 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SCHED_OTHER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 implémente une politique 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extinction de priorité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créé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attaché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l’une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appel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à la fonction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système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sched_setscheduler()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attachés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aux politiques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SCHED_FIFO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et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SCHED_RR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sont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plus prioritaires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que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attachés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politique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SCHED_OTHER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 système Linux, offre un ensemble 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primitives systèmes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pour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gestion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l’ordonnancement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2" name="Text Box 1"/>
          <p:cNvSpPr/>
          <p:nvPr/>
        </p:nvSpPr>
        <p:spPr>
          <a:xfrm>
            <a:off x="86400" y="3813120"/>
            <a:ext cx="9021600" cy="2675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i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Modification ou récupération des paramètres d’ordonnancement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ces fonctions déclarées dans le fichier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&lt;sched.h&gt;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sont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sched_setscheduler(pid_t pid, int policy, const struct sched_param*param)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modification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d’ordonnancement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policy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identifié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Le paramètre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policy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prend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une des trois valeurs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SCHED_FIFO, SCHED_RR et SCHED_OTHER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Cette modification ne peut être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réalisée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qu’avec des droits équivalents à ceux 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super-utilisateur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Si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nul, le processus courant est concerné.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sched_getscheduler(pid_t pid)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récupération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d’ordonnancement associée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identifié par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Si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est nul, le processus courant est concerné.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nt sched_setparam(pid_t pid, const struct sched_param *param)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modification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paramètres d’ordonnancement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identifié par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La structure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param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contient un seul champ,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correspondant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statique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Si pid est nul, le processus courant est concerné.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sched_getparam(pid_t pid, const struct sched_param *param)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récupération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paramètres d’ordonnancement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identifié par </a:t>
            </a:r>
            <a:r>
              <a:rPr lang="fr-FR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pid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Si pid est nul, le processus courant est concerné.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3" name="Text Box 3"/>
          <p:cNvSpPr/>
          <p:nvPr/>
        </p:nvSpPr>
        <p:spPr>
          <a:xfrm>
            <a:off x="3276000" y="1340640"/>
            <a:ext cx="5587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Démo : diapos30/primitives_ordonnancemen.c 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ORDONNANCEMENT SUR L’UNITÉ CENTRALE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Exemples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sldNum" idx="4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31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16" name="Text Box 2"/>
          <p:cNvSpPr/>
          <p:nvPr/>
        </p:nvSpPr>
        <p:spPr>
          <a:xfrm>
            <a:off x="107280" y="1270080"/>
            <a:ext cx="91072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Ordonnancement sous </a:t>
            </a:r>
            <a:r>
              <a:rPr lang="fr-FR" sz="1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Linux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7" name="Text Box 1"/>
          <p:cNvSpPr/>
          <p:nvPr/>
        </p:nvSpPr>
        <p:spPr>
          <a:xfrm>
            <a:off x="35640" y="1700640"/>
            <a:ext cx="9021600" cy="1580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i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Priorités et quantum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primitives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sched_get_priority_min(), sched_get_priority_max() et sched_rr_get_interval()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permettent respectivement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connaître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valeurs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des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priorités statiques minimale et maximale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associées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une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politique d’ordonnancement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ainsi que la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valeur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du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quantum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temps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associé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à 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dans le cadre d’un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ordonnancement SCHED_RR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 Les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ces fonctions déclarées dans le fichier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&lt;sys/wait.h&gt;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sched_get_priority_min(int policy);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sched_get_priority_max(int policy);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sched_rr_get_interval(pid_t pid, struct timespec *interval);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8" name="Text Box 3"/>
          <p:cNvSpPr/>
          <p:nvPr/>
        </p:nvSpPr>
        <p:spPr>
          <a:xfrm>
            <a:off x="35640" y="5877000"/>
            <a:ext cx="76978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B050"/>
                </a:solidFill>
                <a:latin typeface="Arial" panose="020B0604020202020204"/>
                <a:ea typeface="DejaVu Sans" panose="020B0606030804020204"/>
              </a:rPr>
              <a:t>Démo : diapos31 : exemple-nice.c, exemple-getpriority.c, exemple-get-priority-min-max.c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9" name="Text Box 5"/>
          <p:cNvSpPr/>
          <p:nvPr/>
        </p:nvSpPr>
        <p:spPr>
          <a:xfrm>
            <a:off x="10800" y="3453840"/>
            <a:ext cx="9097200" cy="2097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Enfin, les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primitives nice(), setpriority() et getpriority()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permettent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aux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modifier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connaître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leur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la priorité d’un groupe de processus.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eul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privilégié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peut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augmenter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a primitive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nice(int inc)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permet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baisser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priorité de base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de 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valeur </a:t>
            </a:r>
            <a:r>
              <a:rPr lang="en-US" sz="1200" b="1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inc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Les primitives </a:t>
            </a:r>
            <a:r>
              <a:rPr lang="en-US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setpriority() et getpriority()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permettent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baisser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ou de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connaître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la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priorité </a:t>
            </a: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d’un </a:t>
            </a:r>
            <a:r>
              <a:rPr lang="en-US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processus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.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Leurs </a:t>
            </a:r>
            <a:r>
              <a:rPr lang="fr-FR" sz="12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prototypes </a:t>
            </a: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sont :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&lt;unistd.h&gt;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nice(int inc);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#include &lt;sys/wait.h&gt;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setpriority(int which, int who, int prio); 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742950" lvl="1" indent="-28575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ourier New" panose="02070309020205020404"/>
                <a:ea typeface="DejaVu Sans" panose="020B0606030804020204"/>
              </a:rPr>
              <a:t>int getpriority(int which, int who);</a:t>
            </a:r>
            <a:endParaRPr lang="fr-FR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Introduction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ldNum" idx="4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Introduction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ldNum" idx="4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19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L’exclusion mutuelle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ldNum" idx="4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20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Le schéma de l’allocation de ressources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ldNum" idx="4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21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Le schéma lecteurs-rédacteurs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Num" idx="5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22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6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SYNCHRONISATION ET COMMUNICATION </a:t>
            </a:r>
            <a:br>
              <a:rPr sz="28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ENTRE PROCESSUS</a:t>
            </a:r>
            <a:br>
              <a:rPr sz="36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Le schéma producteur-consommateur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5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23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73880" y="275040"/>
            <a:ext cx="880128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NOTION DE PROCESSUS LÉGER OU THREAD</a:t>
            </a:r>
            <a:br>
              <a:rPr sz="32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 Notion de thread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ldNum" idx="5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24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73880" y="275040"/>
            <a:ext cx="880128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NOTION DE PROCESSUS LÉGER OU THREAD</a:t>
            </a:r>
            <a:br>
              <a:rPr sz="32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 Exemple sous Linux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ldNum" idx="5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25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173880" y="275040"/>
            <a:ext cx="880128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br>
              <a:rPr sz="3200"/>
            </a:br>
            <a:r>
              <a:rPr lang="fr-FR" sz="2800" b="0" strike="noStrike" spc="-1">
                <a:solidFill>
                  <a:srgbClr val="000000"/>
                </a:solidFill>
                <a:latin typeface="Arial" panose="020B0604020202020204"/>
              </a:rPr>
              <a:t>NOTION DE PROCESSUS LÉGER OU THREAD</a:t>
            </a:r>
            <a:br>
              <a:rPr sz="3200"/>
            </a:b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   Exemple sous Windows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5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26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Conclusion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Symbol"/>
              <a:buChar char=""/>
            </a:pPr>
            <a:r>
              <a:rPr lang="fr-FR" sz="3200" b="0" strike="noStrike" spc="-1">
                <a:solidFill>
                  <a:srgbClr val="C9211E"/>
                </a:solidFill>
                <a:latin typeface="Arial" panose="020B0604020202020204"/>
              </a:rPr>
              <a:t>A FAIRE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27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TP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sldNum" idx="5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  <a:ea typeface="SimSun"/>
              </a:rPr>
              <a:t>28</a:t>
            </a:r>
            <a:endParaRPr lang="fr-FR" sz="1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3" name="Text Box 3"/>
          <p:cNvSpPr/>
          <p:nvPr/>
        </p:nvSpPr>
        <p:spPr>
          <a:xfrm>
            <a:off x="2446200" y="3139920"/>
            <a:ext cx="5113080" cy="100404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000" b="0" strike="noStrike" spc="-1">
                <a:solidFill>
                  <a:srgbClr val="C9211E"/>
                </a:solidFill>
                <a:latin typeface="Arial" panose="020B0604020202020204"/>
                <a:ea typeface="SimSun"/>
              </a:rPr>
              <a:t>TP : A FAIRE</a:t>
            </a:r>
            <a:endParaRPr lang="fr-FR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92F7FC21-B486-44B1-A7B2-F7C835589C87}"/>
</file>

<file path=customXml/itemProps2.xml><?xml version="1.0" encoding="utf-8"?>
<ds:datastoreItem xmlns:ds="http://schemas.openxmlformats.org/officeDocument/2006/customXml" ds:itemID="{7916D90D-E091-4CB5-87DC-FCBC1F74A855}"/>
</file>

<file path=customXml/itemProps3.xml><?xml version="1.0" encoding="utf-8"?>
<ds:datastoreItem xmlns:ds="http://schemas.openxmlformats.org/officeDocument/2006/customXml" ds:itemID="{599F869A-484D-4F1F-B484-BD29CC74AF4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27981</Words>
  <Application>WPS Presentation</Application>
  <PresentationFormat/>
  <Paragraphs>609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61" baseType="lpstr">
      <vt:lpstr>Arial</vt:lpstr>
      <vt:lpstr>SimSun</vt:lpstr>
      <vt:lpstr>Wingdings</vt:lpstr>
      <vt:lpstr>Arial</vt:lpstr>
      <vt:lpstr>OpenSymbol</vt:lpstr>
      <vt:lpstr>Symbol</vt:lpstr>
      <vt:lpstr>Times New Roman</vt:lpstr>
      <vt:lpstr>DejaVu Sans</vt:lpstr>
      <vt:lpstr>SimSun</vt:lpstr>
      <vt:lpstr>Droid Sans Fallback</vt:lpstr>
      <vt:lpstr>Symbol</vt:lpstr>
      <vt:lpstr>Courier New</vt:lpstr>
      <vt:lpstr>Microsoft YaHei</vt:lpstr>
      <vt:lpstr>Arial Unicode MS</vt:lpstr>
      <vt:lpstr>Quicksand Light</vt:lpstr>
      <vt:lpstr>默认设计模板</vt:lpstr>
      <vt:lpstr>默认设计模板</vt:lpstr>
      <vt:lpstr>1_默认设计模板</vt:lpstr>
      <vt:lpstr>2_默认设计模板</vt:lpstr>
      <vt:lpstr>B. Gestion des exécutions programmes</vt:lpstr>
      <vt:lpstr>Sommaire</vt:lpstr>
      <vt:lpstr>Introduction</vt:lpstr>
      <vt:lpstr> NOTION DE PROCESSUS Définitions</vt:lpstr>
      <vt:lpstr> NOTION DE PROCESSUS Définitions </vt:lpstr>
      <vt:lpstr> NOTION DE PROCESSUS Définitions </vt:lpstr>
      <vt:lpstr> NOTION DE PROCESSUS États d’un processus </vt:lpstr>
      <vt:lpstr> NOTION DE PROCESSUS Bloc de contrôle du processus  (PCB :  Process Control Block) </vt:lpstr>
      <vt:lpstr> NOTION DE PROCESSUS Opérations sur les processus </vt:lpstr>
      <vt:lpstr> NOTION DE PROCESSUS Un exemple de processus : les processus Unix </vt:lpstr>
      <vt:lpstr> NOTION DE PROCESSUS Un exemple de processus : les processus Unix </vt:lpstr>
      <vt:lpstr> NOTION DE PROCESSUS Un exemple de processus : les processus Unix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Programmation de processus : l’exemple de LINUX </vt:lpstr>
      <vt:lpstr> NOTION DE PROCESSUS  Langage de commandes Processus : l’exemple de Linux </vt:lpstr>
      <vt:lpstr> NOTION DE PROCESSUS  Langage de commandes Processus : l’exemple de Linux </vt:lpstr>
      <vt:lpstr> ORDONNANCEMENT SUR L’UNITÉ CENTRALE Introduction </vt:lpstr>
      <vt:lpstr> ORDONNANCEMENT SUR L’UNITÉ CENTRALE Ordonnancement préemptif et non préemptif </vt:lpstr>
      <vt:lpstr> ORDONNANCEMENT SUR L’UNITÉ CENTRALE Ordonnancement préemptif et non préemptif </vt:lpstr>
      <vt:lpstr> ORDONNANCEMENT SUR L’UNITÉ CENTRALE Entités systèmes responsable de l’ordonnancement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Politiques d’ordonnancement</vt:lpstr>
      <vt:lpstr> ORDONNANCEMENT SUR L’UNITÉ CENTRALE Exemples</vt:lpstr>
      <vt:lpstr>ORDONNANCEMENT SUR L’UNITÉ CENTRALE Exemples</vt:lpstr>
      <vt:lpstr>ORDONNANCEMENT SUR L’UNITÉ CENTRALE Exemples</vt:lpstr>
      <vt:lpstr>ORDONNANCEMENT SUR L’UNITÉ CENTRALE Exemples</vt:lpstr>
      <vt:lpstr> SYNCHRONISATION ET COMMUNICATION  ENTRE PROCESSUS Introduction</vt:lpstr>
      <vt:lpstr> SYNCHRONISATION ET COMMUNICATION  ENTRE PROCESSUS Introduction</vt:lpstr>
      <vt:lpstr> SYNCHRONISATION ET COMMUNICATION  ENTRE PROCESSUS L’exclusion mutuelle</vt:lpstr>
      <vt:lpstr> SYNCHRONISATION ET COMMUNICATION  ENTRE PROCESSUS  Le schéma de l’allocation de ressources</vt:lpstr>
      <vt:lpstr> SYNCHRONISATION ET COMMUNICATION  ENTRE PROCESSUS   Le schéma lecteurs-rédacteurs</vt:lpstr>
      <vt:lpstr> SYNCHRONISATION ET COMMUNICATION  ENTRE PROCESSUS   Le schéma producteur-consommateur</vt:lpstr>
      <vt:lpstr> NOTION DE PROCESSUS LÉGER OU THREAD    Notion de thread</vt:lpstr>
      <vt:lpstr> NOTION DE PROCESSUS LÉGER OU THREAD    Exemple sous Linux</vt:lpstr>
      <vt:lpstr> NOTION DE PROCESSUS LÉGER OU THREAD    Exemple sous Windows</vt:lpstr>
      <vt:lpstr>Conclusion</vt:lpstr>
      <vt:lpstr>TP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</dc:title>
  <dc:creator>wps</dc:creator>
  <cp:lastModifiedBy>komo</cp:lastModifiedBy>
  <cp:revision>268</cp:revision>
  <dcterms:created xsi:type="dcterms:W3CDTF">2023-06-18T11:14:06Z</dcterms:created>
  <dcterms:modified xsi:type="dcterms:W3CDTF">2023-06-18T11:14:06Z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  <property fmtid="{D5CDD505-2E9C-101B-9397-08002B2CF9AE}" pid="4" name="Slides">
    <vt:i4>42</vt:i4>
  </property>
  <property fmtid="{D5CDD505-2E9C-101B-9397-08002B2CF9AE}" pid="5" name="ContentTypeId">
    <vt:lpwstr>0x0101001558AE1F1B4EAE41AA5D45FA89F23B30</vt:lpwstr>
  </property>
  <property fmtid="{D5CDD505-2E9C-101B-9397-08002B2CF9AE}" pid="6" name="Order">
    <vt:r8>38600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