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2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9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7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4.xml.rels" ContentType="application/vnd.openxmlformats-package.relationships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27.png" ContentType="image/png"/>
  <Override PartName="/ppt/media/image3.png" ContentType="image/png"/>
  <Override PartName="/ppt/media/image26.png" ContentType="image/png"/>
  <Override PartName="/ppt/media/image2.png" ContentType="image/png"/>
  <Override PartName="/ppt/media/image25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5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4.png" ContentType="image/png"/>
  <Override PartName="/ppt/media/image1.png" ContentType="image/png"/>
  <Override PartName="/ppt/media/image24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3.xml" ContentType="application/vnd.openxmlformats-officedocument.presentationml.slide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30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_rels/slide10.xml.rels" ContentType="application/vnd.openxmlformats-package.relationships+xml"/>
  <Override PartName="/ppt/slides/_rels/slide25.xml.rels" ContentType="application/vnd.openxmlformats-package.relationships+xml"/>
  <Override PartName="/ppt/slides/_rels/slide16.xml.rels" ContentType="application/vnd.openxmlformats-package.relationships+xml"/>
  <Override PartName="/ppt/slides/_rels/slide32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36.xml.rels" ContentType="application/vnd.openxmlformats-package.relationships+xml"/>
  <Override PartName="/ppt/slides/_rels/slide21.xml.rels" ContentType="application/vnd.openxmlformats-package.relationships+xml"/>
  <Override PartName="/ppt/slides/_rels/slide35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7.xml.rels" ContentType="application/vnd.openxmlformats-package.relationships+xml"/>
  <Override PartName="/ppt/slides/_rels/slide34.xml.rels" ContentType="application/vnd.openxmlformats-package.relationships+xml"/>
  <Override PartName="/ppt/slides/_rels/slide6.xml.rels" ContentType="application/vnd.openxmlformats-package.relationships+xml"/>
  <Override PartName="/ppt/slides/_rels/slide33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media/image28.jpeg" ContentType="image/jpeg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_rels/presentation.xml.rels" ContentType="application/vnd.openxmlformats-package.relationships+xml"/>
  <Override PartName="/docProps/custom.xml" ContentType="application/vnd.openxmlformats-officedocument.custom-properties+xml"/>
  <Override PartName="/docProps/core1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extended-properties" Target="docProps/app.xml"/><Relationship Id="rId1" Type="http://schemas.openxmlformats.org/officedocument/2006/relationships/metadata/core-properties" Target="docProps/core.xml"/><Relationship Id="rId5" Type="http://schemas.openxmlformats.org/package/2006/relationships/metadata/core-properties" Target="docProps/core1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customXml" Target="../customXml/item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customXml" Target="../customXml/item1.xml"/><Relationship Id="rId1" Type="http://schemas.openxmlformats.org/officeDocument/2006/relationships/theme" Target="theme/theme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customXml" Target="../customXml/item3.xml"/><Relationship Id="rId8" Type="http://schemas.openxmlformats.org/officeDocument/2006/relationships/slide" Target="slides/slide5.xml"/><Relationship Id="rId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txBody>
          <a:bodyPr lIns="90000" rIns="90000" tIns="45000" bIns="45000" anchor="ctr" anchorCtr="1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0" y="0"/>
            <a:ext cx="6858000" cy="9144000"/>
          </a:xfrm>
          <a:custGeom>
            <a:avLst/>
            <a:gdLst>
              <a:gd name="textAreaLeft" fmla="*/ 360 w 6858000"/>
              <a:gd name="textAreaRight" fmla="*/ 6857640 w 6858000"/>
              <a:gd name="textAreaTop" fmla="*/ 360 h 9144000"/>
              <a:gd name="textAreaBottom" fmla="*/ 9143640 h 9144000"/>
            </a:gdLst>
            <a:ahLst/>
            <a:rect l="textAreaLeft" t="textAreaTop" r="textAreaRight" b="textAreaBottom"/>
            <a:pathLst>
              <a:path w="21600" h="28800">
                <a:moveTo>
                  <a:pt x="5" y="0"/>
                </a:moveTo>
                <a:arcTo wR="5" hR="5" stAng="16200000" swAng="-5400000"/>
                <a:lnTo>
                  <a:pt x="0" y="28795"/>
                </a:lnTo>
                <a:arcTo wR="5" hR="5" stAng="10800000" swAng="-5400000"/>
                <a:lnTo>
                  <a:pt x="21595" y="28800"/>
                </a:lnTo>
                <a:arcTo wR="5" hR="5" stAng="5400000" swAng="-5400000"/>
                <a:lnTo>
                  <a:pt x="21600" y="5"/>
                </a:lnTo>
                <a:arcTo wR="5" hR="5" stAng="0" swAng="-5400000"/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1002960" y="695160"/>
            <a:ext cx="4809960" cy="339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71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38320" cy="4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8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</a:rPr>
              <a:t>&lt;header&gt;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4"/>
          </p:nvPr>
        </p:nvSpPr>
        <p:spPr>
          <a:xfrm>
            <a:off x="3881520" y="0"/>
            <a:ext cx="2938320" cy="4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8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8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5"/>
          </p:nvPr>
        </p:nvSpPr>
        <p:spPr>
          <a:xfrm>
            <a:off x="0" y="8686440"/>
            <a:ext cx="2938320" cy="4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8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lnSpc>
                <a:spcPct val="8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6"/>
          </p:nvPr>
        </p:nvSpPr>
        <p:spPr>
          <a:xfrm>
            <a:off x="3881520" y="8686440"/>
            <a:ext cx="2938320" cy="4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8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8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fld id="{97F17052-0036-4EF8-999D-3C275F820086}" type="slidenum">
              <a:rPr b="0" lang="en-GB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200" spc="-1" strike="noStrike">
                <a:solidFill>
                  <a:srgbClr val="000000"/>
                </a:solidFill>
                <a:latin typeface="Times New Roman"/>
              </a:rPr>
              <a:t>1) note Par ailleurs, chaque processus ne peut avoir accès qu'a sa </a:t>
            </a:r>
            <a:br>
              <a:rPr sz="1200"/>
            </a:br>
            <a:r>
              <a:rPr b="0" lang="fr-FR" sz="1200" spc="-1" strike="noStrike">
                <a:solidFill>
                  <a:srgbClr val="000000"/>
                </a:solidFill>
                <a:latin typeface="Times New Roman"/>
              </a:rPr>
              <a:t>propre table des pages et donc à ses propres pages. Malgré</a:t>
            </a:r>
            <a:br>
              <a:rPr sz="1200"/>
            </a:br>
            <a:r>
              <a:rPr b="0" lang="fr-FR" sz="1200" spc="-1" strike="noStrike">
                <a:solidFill>
                  <a:srgbClr val="000000"/>
                </a:solidFill>
                <a:latin typeface="Times New Roman"/>
              </a:rPr>
              <a:t>tout, il peut être souhaitable que des pages soient </a:t>
            </a:r>
            <a:br>
              <a:rPr sz="1200"/>
            </a:br>
            <a:r>
              <a:rPr b="0" lang="fr-FR" sz="1200" spc="-1" strike="noStrike">
                <a:solidFill>
                  <a:srgbClr val="000000"/>
                </a:solidFill>
                <a:latin typeface="Times New Roman"/>
              </a:rPr>
              <a:t>accessibles par plusieurs processus différents. C'est par </a:t>
            </a:r>
            <a:br>
              <a:rPr sz="1200"/>
            </a:br>
            <a:r>
              <a:rPr b="0" lang="fr-FR" sz="1200" spc="-1" strike="noStrike">
                <a:solidFill>
                  <a:srgbClr val="000000"/>
                </a:solidFill>
                <a:latin typeface="Times New Roman"/>
              </a:rPr>
              <a:t>exemple souhaitable pour éviter la duplication en mémoire </a:t>
            </a:r>
            <a:br>
              <a:rPr sz="1200"/>
            </a:br>
            <a:r>
              <a:rPr b="0" lang="fr-FR" sz="1200" spc="-1" strike="noStrike">
                <a:solidFill>
                  <a:srgbClr val="000000"/>
                </a:solidFill>
                <a:latin typeface="Times New Roman"/>
              </a:rPr>
              <a:t>centrale du code des bibliothèques.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"/>
          <p:cNvSpPr/>
          <p:nvPr/>
        </p:nvSpPr>
        <p:spPr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PlaceHolder 1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48240" cy="407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48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2CB7A7-9334-43CF-9569-176C0167A3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62080"/>
            <a:ext cx="8191440" cy="113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7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1914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71000"/>
              </a:lnSpc>
              <a:spcBef>
                <a:spcPts val="799"/>
              </a:spcBef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AC1FB8-C887-47B2-B410-9F48A55FBB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62080"/>
            <a:ext cx="8191440" cy="113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7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1914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406A7F-835F-4B59-8F62-99F0DD8523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62080"/>
            <a:ext cx="8191440" cy="113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7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399708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4654440" y="1604520"/>
            <a:ext cx="399708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E73619-A183-402F-930E-B789CBA365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62080"/>
            <a:ext cx="8191440" cy="113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7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3F8D92-4EA2-4FD2-927D-CBDAD62328C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457200" y="262080"/>
            <a:ext cx="8191440" cy="5256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71000"/>
              </a:lnSpc>
              <a:spcBef>
                <a:spcPts val="799"/>
              </a:spcBef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25FBCA-37FF-4FFE-9640-437BB7CD45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62080"/>
            <a:ext cx="8191440" cy="113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7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399708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54440" y="1604520"/>
            <a:ext cx="399708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57200" y="3682440"/>
            <a:ext cx="399708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4BC093-8631-4C74-9C8F-EFD27E4162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62080"/>
            <a:ext cx="8191440" cy="113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7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399708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54440" y="1604520"/>
            <a:ext cx="399708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54440" y="3682440"/>
            <a:ext cx="399708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36FC30-1475-4E76-A5FA-9E5AAD928B9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62080"/>
            <a:ext cx="8191440" cy="113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7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399708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54440" y="1604520"/>
            <a:ext cx="399708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57200" y="3682440"/>
            <a:ext cx="819144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A331DD-C22E-42B1-940E-6B16DF3311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62080"/>
            <a:ext cx="8191440" cy="113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7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19144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57200" y="3682440"/>
            <a:ext cx="819144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0D6DED-5DFA-4012-915D-7218F1B82E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62080"/>
            <a:ext cx="8191440" cy="113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7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399708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4654440" y="1604520"/>
            <a:ext cx="399708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457200" y="3682440"/>
            <a:ext cx="399708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4654440" y="3682440"/>
            <a:ext cx="399708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B5BC67-C687-425B-905C-1384AC1E364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62080"/>
            <a:ext cx="8191440" cy="113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7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3736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3226680" y="1604520"/>
            <a:ext cx="263736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5996520" y="1604520"/>
            <a:ext cx="263736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457200" y="3682440"/>
            <a:ext cx="263736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3226680" y="3682440"/>
            <a:ext cx="263736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5996520" y="3682440"/>
            <a:ext cx="2637360" cy="189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1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E81C16-4908-48B8-B918-73844684766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62080"/>
            <a:ext cx="8191440" cy="1133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7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1914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03120" indent="-303120">
              <a:lnSpc>
                <a:spcPct val="71000"/>
              </a:lnSpc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r>
              <a:rPr b="0" lang="fr-F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  <a:p>
            <a:pPr lvl="1" marL="703080" indent="-245880">
              <a:lnSpc>
                <a:spcPct val="71000"/>
              </a:lnSpc>
              <a:spcBef>
                <a:spcPts val="697"/>
              </a:spcBef>
              <a:buClr>
                <a:srgbClr val="000000"/>
              </a:buClr>
              <a:buFont typeface="Arial"/>
              <a:buChar char="–"/>
              <a:tabLst>
                <a:tab algn="l" pos="195120"/>
                <a:tab algn="l" pos="644400"/>
                <a:tab algn="l" pos="1093680"/>
                <a:tab algn="l" pos="1542960"/>
                <a:tab algn="l" pos="1992240"/>
                <a:tab algn="l" pos="2441520"/>
                <a:tab algn="l" pos="2890800"/>
                <a:tab algn="l" pos="3340080"/>
                <a:tab algn="l" pos="3789360"/>
                <a:tab algn="l" pos="4238280"/>
                <a:tab algn="l" pos="4687560"/>
                <a:tab algn="l" pos="5136840"/>
                <a:tab algn="l" pos="5586120"/>
                <a:tab algn="l" pos="6035400"/>
                <a:tab algn="l" pos="6484680"/>
                <a:tab algn="l" pos="6933960"/>
                <a:tab algn="l" pos="7383240"/>
                <a:tab algn="l" pos="7832520"/>
                <a:tab algn="l" pos="8281800"/>
                <a:tab algn="l" pos="8731080"/>
              </a:tabLst>
            </a:pPr>
            <a:r>
              <a:rPr b="0" lang="fr-F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  <a:p>
            <a:pPr lvl="2" marL="1143000" indent="-228600">
              <a:lnSpc>
                <a:spcPct val="71000"/>
              </a:lnSpc>
              <a:spcBef>
                <a:spcPts val="598"/>
              </a:spcBef>
              <a:buClr>
                <a:srgbClr val="000000"/>
              </a:buClr>
              <a:buFont typeface="Arial"/>
              <a:buChar char="•"/>
              <a:tabLst>
                <a:tab algn="l" pos="204480"/>
                <a:tab algn="l" pos="653760"/>
                <a:tab algn="l" pos="1103040"/>
                <a:tab algn="l" pos="1552320"/>
                <a:tab algn="l" pos="2001600"/>
                <a:tab algn="l" pos="2450880"/>
                <a:tab algn="l" pos="2900160"/>
                <a:tab algn="l" pos="3349440"/>
                <a:tab algn="l" pos="3798720"/>
                <a:tab algn="l" pos="4248000"/>
                <a:tab algn="l" pos="4697280"/>
                <a:tab algn="l" pos="5146560"/>
                <a:tab algn="l" pos="5595840"/>
                <a:tab algn="l" pos="6045120"/>
                <a:tab algn="l" pos="6494400"/>
                <a:tab algn="l" pos="6943680"/>
                <a:tab algn="l" pos="7392960"/>
                <a:tab algn="l" pos="7842240"/>
                <a:tab algn="l" pos="8291160"/>
                <a:tab algn="l" pos="8740440"/>
              </a:tabLst>
            </a:pPr>
            <a:r>
              <a:rPr b="0" lang="fr-F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  <a:p>
            <a:pPr lvl="3" marL="1600200" indent="-228600">
              <a:lnSpc>
                <a:spcPct val="71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–"/>
              <a:tabLst>
                <a:tab algn="l" pos="196560"/>
                <a:tab algn="l" pos="645840"/>
                <a:tab algn="l" pos="1095120"/>
                <a:tab algn="l" pos="1544400"/>
                <a:tab algn="l" pos="1993680"/>
                <a:tab algn="l" pos="2442960"/>
                <a:tab algn="l" pos="2892240"/>
                <a:tab algn="l" pos="3341520"/>
                <a:tab algn="l" pos="3790800"/>
                <a:tab algn="l" pos="4240080"/>
                <a:tab algn="l" pos="4689360"/>
                <a:tab algn="l" pos="5138640"/>
                <a:tab algn="l" pos="5587920"/>
                <a:tab algn="l" pos="6037200"/>
                <a:tab algn="l" pos="6486480"/>
                <a:tab algn="l" pos="6935760"/>
                <a:tab algn="l" pos="7385040"/>
                <a:tab algn="l" pos="7833960"/>
                <a:tab algn="l" pos="8283240"/>
                <a:tab algn="l" pos="873252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4" marL="2057400" indent="-228600">
              <a:lnSpc>
                <a:spcPct val="71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»"/>
              <a:tabLst>
                <a:tab algn="l" pos="188640"/>
                <a:tab algn="l" pos="637920"/>
                <a:tab algn="l" pos="1087200"/>
                <a:tab algn="l" pos="1536480"/>
                <a:tab algn="l" pos="1985760"/>
                <a:tab algn="l" pos="2435040"/>
                <a:tab algn="l" pos="2884320"/>
                <a:tab algn="l" pos="3333600"/>
                <a:tab algn="l" pos="3782880"/>
                <a:tab algn="l" pos="4232160"/>
                <a:tab algn="l" pos="4681440"/>
                <a:tab algn="l" pos="5130720"/>
                <a:tab algn="l" pos="5580000"/>
                <a:tab algn="l" pos="6029280"/>
                <a:tab algn="l" pos="6478560"/>
                <a:tab algn="l" pos="6927840"/>
                <a:tab algn="l" pos="7376760"/>
                <a:tab algn="l" pos="7826040"/>
                <a:tab algn="l" pos="8275320"/>
                <a:tab algn="l" pos="872460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5" marL="2057400" indent="-228600">
              <a:lnSpc>
                <a:spcPct val="71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»"/>
              <a:tabLst>
                <a:tab algn="l" pos="188640"/>
                <a:tab algn="l" pos="637920"/>
                <a:tab algn="l" pos="1087200"/>
                <a:tab algn="l" pos="1536480"/>
                <a:tab algn="l" pos="1985760"/>
                <a:tab algn="l" pos="2435040"/>
                <a:tab algn="l" pos="2884320"/>
                <a:tab algn="l" pos="3333600"/>
                <a:tab algn="l" pos="3782880"/>
                <a:tab algn="l" pos="4232160"/>
                <a:tab algn="l" pos="4681440"/>
                <a:tab algn="l" pos="5130720"/>
                <a:tab algn="l" pos="5580000"/>
                <a:tab algn="l" pos="6029280"/>
                <a:tab algn="l" pos="6478560"/>
                <a:tab algn="l" pos="6927840"/>
                <a:tab algn="l" pos="7376760"/>
                <a:tab algn="l" pos="7826040"/>
                <a:tab algn="l" pos="8275320"/>
                <a:tab algn="l" pos="872460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lvl="6" marL="2057400" indent="-228600">
              <a:lnSpc>
                <a:spcPct val="71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»"/>
              <a:tabLst>
                <a:tab algn="l" pos="188640"/>
                <a:tab algn="l" pos="637920"/>
                <a:tab algn="l" pos="1087200"/>
                <a:tab algn="l" pos="1536480"/>
                <a:tab algn="l" pos="1985760"/>
                <a:tab algn="l" pos="2435040"/>
                <a:tab algn="l" pos="2884320"/>
                <a:tab algn="l" pos="3333600"/>
                <a:tab algn="l" pos="3782880"/>
                <a:tab algn="l" pos="4232160"/>
                <a:tab algn="l" pos="4681440"/>
                <a:tab algn="l" pos="5130720"/>
                <a:tab algn="l" pos="5580000"/>
                <a:tab algn="l" pos="6029280"/>
                <a:tab algn="l" pos="6478560"/>
                <a:tab algn="l" pos="6927840"/>
                <a:tab algn="l" pos="7376760"/>
                <a:tab algn="l" pos="7826040"/>
                <a:tab algn="l" pos="8275320"/>
                <a:tab algn="l" pos="8724600"/>
              </a:tabLst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6360"/>
            <a:ext cx="1490760" cy="43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8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lnSpc>
                <a:spcPct val="8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1979280" y="6246360"/>
            <a:ext cx="5902200" cy="43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8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lnSpc>
                <a:spcPct val="8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920000" y="6246360"/>
            <a:ext cx="728640" cy="43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8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lnSpc>
                <a:spcPct val="8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fld id="{EA3A9C89-5351-444A-B33D-1704749BE218}" type="slidenum">
              <a:rPr b="0" lang="en-GB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" descr=""/>
          <p:cNvPicPr/>
          <p:nvPr/>
        </p:nvPicPr>
        <p:blipFill>
          <a:blip r:embed="rId2"/>
          <a:stretch/>
        </p:blipFill>
        <p:spPr>
          <a:xfrm>
            <a:off x="324000" y="260280"/>
            <a:ext cx="695160" cy="10382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60360" y="1326960"/>
            <a:ext cx="8459640" cy="130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94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40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2400"/>
            </a:br>
            <a:r>
              <a:rPr b="0" lang="en-GB" sz="4400" spc="-1" strike="noStrike">
                <a:solidFill>
                  <a:srgbClr val="000000"/>
                </a:solidFill>
                <a:latin typeface="Arial Narrow"/>
              </a:rPr>
              <a:t>          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0" y="2160720"/>
            <a:ext cx="6300720" cy="1440"/>
          </a:xfrm>
          <a:prstGeom prst="line">
            <a:avLst/>
          </a:prstGeom>
          <a:ln w="21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200320" y="2160720"/>
            <a:ext cx="27288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97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 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F2A6C3-A808-4EE1-A669-EDE9D0891E28}" type="slidenum">
              <a:t>1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49EF9F88-67BC-4187-B251-563A86F05B97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9360"/>
            <a:ext cx="82296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400" spc="-1" strike="noStrike">
                <a:solidFill>
                  <a:srgbClr val="000000"/>
                </a:solidFill>
                <a:latin typeface="Verdana"/>
              </a:rPr>
              <a:t>Plan de la phase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900000" y="1979280"/>
            <a:ext cx="7200000" cy="29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77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 </a:t>
            </a: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Introduction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77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Chargement d'un programme en mémoire centrale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77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Mémoire physique et mémoire logique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77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Allocation de la mémoire physique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77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Mémoire virtuelle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77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Conclusion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77000"/>
              </a:lnSpc>
              <a:spcBef>
                <a:spcPts val="799"/>
              </a:spcBef>
              <a:buNone/>
              <a:tabLst>
                <a:tab algn="l" pos="145800"/>
                <a:tab algn="l" pos="595080"/>
                <a:tab algn="l" pos="1044360"/>
                <a:tab algn="l" pos="1493640"/>
                <a:tab algn="l" pos="1942920"/>
                <a:tab algn="l" pos="2392200"/>
                <a:tab algn="l" pos="2841480"/>
                <a:tab algn="l" pos="3290760"/>
                <a:tab algn="l" pos="3740040"/>
                <a:tab algn="l" pos="4189320"/>
                <a:tab algn="l" pos="4638600"/>
                <a:tab algn="l" pos="5087880"/>
                <a:tab algn="l" pos="5537160"/>
                <a:tab algn="l" pos="5986440"/>
                <a:tab algn="l" pos="6435720"/>
                <a:tab algn="l" pos="6884640"/>
                <a:tab algn="l" pos="7333920"/>
                <a:tab algn="l" pos="7783200"/>
                <a:tab algn="l" pos="8232480"/>
                <a:tab algn="l" pos="8681760"/>
              </a:tabLst>
            </a:pP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Exercices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A09FAF-41FD-4398-84F3-5BAB4CF1A2EF}" type="slidenum">
              <a:t>2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273B8E5F-D975-408A-9429-A0D125AFC14B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9360"/>
            <a:ext cx="82296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400" spc="-1" strike="noStrike">
                <a:solidFill>
                  <a:srgbClr val="000000"/>
                </a:solidFill>
                <a:latin typeface="Verdana"/>
              </a:rPr>
              <a:t>Introduction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0" y="1620000"/>
            <a:ext cx="7099560" cy="101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Ce partage engendre trois problèmes :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Il faut définir un espace d'adressage séparé pour chaque processus.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Allouer de la place en mémoire centrale pour le code et les données.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Protéger cet espace d'adressage vis-à-vis des accès des autres processus.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0" y="3492000"/>
            <a:ext cx="8899560" cy="64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Une gestion de la mémoire ne visant à ne charger que les parties utiles à un instant donné de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chaque processus est donc mise en place pour palier ce problème : c'est le concept de </a:t>
            </a: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mémoire</a:t>
            </a:r>
            <a:br>
              <a:rPr sz="1600"/>
            </a:b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virtuelle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0" y="4716000"/>
            <a:ext cx="8768160" cy="138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600" spc="-1" strike="noStrike" u="sng">
                <a:solidFill>
                  <a:srgbClr val="000000"/>
                </a:solidFill>
                <a:uFillTx/>
                <a:latin typeface="Arial"/>
              </a:rPr>
              <a:t>Définition d'un processus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: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Un processus est un programme en cours d'exécution auquel est associé un environnement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processeur (CO, PSW, RSP (registre haut de pile), registres généraux) et un environnement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mémoire (zone de code, de données et de pile) appelés </a:t>
            </a: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contexte du processeur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Un processus est l'instance dynamique d'un programme et incarne le fil d'exécution de celui-ci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dans un </a:t>
            </a: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espace d'adressage protégé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201DFE-0C18-4095-899F-22DA84ED3AA3}" type="slidenum">
              <a:t>3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1A33F7C5-5A09-4E01-A4D9-D4B7BD91F827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89200" y="279360"/>
            <a:ext cx="82296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400" spc="-1" strike="noStrike">
                <a:solidFill>
                  <a:srgbClr val="000000"/>
                </a:solidFill>
                <a:latin typeface="Verdana"/>
              </a:rPr>
              <a:t>Chargement d'un programme en mémoire centrale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1440000" y="1329120"/>
            <a:ext cx="6447960" cy="4790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A71676-84BA-4BC9-94B4-35435D29C568}" type="slidenum">
              <a:t>4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FD498E42-01D6-4C0F-9F04-1F7ADDD50856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9360"/>
            <a:ext cx="82296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400" spc="-1" strike="noStrike">
                <a:solidFill>
                  <a:srgbClr val="000000"/>
                </a:solidFill>
                <a:latin typeface="Verdana"/>
              </a:rPr>
              <a:t>Mémoire physique et mémoire logique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36000" y="1404000"/>
            <a:ext cx="9028800" cy="82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L'ensemble des adresses du programme exécutable, générées par le processeur au moment de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l'exécution des instructions, est appelé </a:t>
            </a: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espace d'adresses logiques ou virtuelles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L'ensemble des adresses physiques réellement occupées par le programme exécutable suite au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chargement en mémoire centrale est appelé </a:t>
            </a: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espace d'adresses physiques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-12240" y="5796000"/>
            <a:ext cx="8725680" cy="45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Note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: Le PCB 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(Process Control Block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), qui  permet la sauvegarde et restauration du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contexte mémoire et du contexte processeur lors des opérations de commutations de contexte.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4680000" y="2162160"/>
            <a:ext cx="4248000" cy="32378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 txBox="1"/>
          <p:nvPr/>
        </p:nvSpPr>
        <p:spPr>
          <a:xfrm>
            <a:off x="0" y="2520000"/>
            <a:ext cx="5171760" cy="46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Cette conversion est réalisée par un dispositif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matériel, la MMU (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Memory Management Unit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).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2" name="" descr=""/>
          <p:cNvPicPr/>
          <p:nvPr/>
        </p:nvPicPr>
        <p:blipFill>
          <a:blip r:embed="rId2"/>
          <a:stretch/>
        </p:blipFill>
        <p:spPr>
          <a:xfrm>
            <a:off x="180000" y="3200400"/>
            <a:ext cx="4140000" cy="19843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551C74-8848-4132-BFEC-C52015CC77A6}" type="slidenum">
              <a:t>5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6B2A40F9-4AAD-4F39-A736-E9DAF897738A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9360"/>
            <a:ext cx="82296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400" spc="-1" strike="noStrike">
                <a:solidFill>
                  <a:srgbClr val="000000"/>
                </a:solidFill>
                <a:latin typeface="Verdana"/>
              </a:rPr>
              <a:t>Allocation de la mémoire physique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0" y="2772000"/>
            <a:ext cx="3119040" cy="70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Partitions variables.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egmentation et de pagination.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7360" y="1542960"/>
            <a:ext cx="9181440" cy="45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Les stratégies d''attribution et de libération de place mémoire aux programmes utilisateurs  peuvent être divisées en deux grandes familles :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B4FBCE-DC43-40C4-B009-993933ED90FE}" type="slidenum">
              <a:t>6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00E51CC7-792B-4F46-AAEB-66B1747D3499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9" dur="indefinite" restart="never" nodeType="tmRoot">
          <p:childTnLst>
            <p:seq>
              <p:cTn id="60" dur="indefinite" nodeType="mainSeq">
                <p:childTnLst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961200" y="279360"/>
            <a:ext cx="82296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200" spc="-1" strike="noStrike">
                <a:solidFill>
                  <a:srgbClr val="000000"/>
                </a:solidFill>
                <a:latin typeface="Verdana"/>
              </a:rPr>
              <a:t>Allocation de la mémoire physique – allocation contiguë 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0" y="1440000"/>
            <a:ext cx="297144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Notion de partitions variable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382840" y="5760000"/>
            <a:ext cx="5321160" cy="45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Chaque zone libre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(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ZL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) est caractérisée par une adresse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d'implantation en mémoire centrale et une taille en octet.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1" name="" descr=""/>
          <p:cNvPicPr/>
          <p:nvPr/>
        </p:nvPicPr>
        <p:blipFill>
          <a:blip r:embed="rId1"/>
          <a:stretch/>
        </p:blipFill>
        <p:spPr>
          <a:xfrm>
            <a:off x="2700000" y="1682640"/>
            <a:ext cx="4269240" cy="38973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121BC3-9749-41E7-96E9-10504F9CD8A8}" type="slidenum">
              <a:t>7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818A9EE3-6CFB-480E-B90F-58C8B66461C1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3" dur="indefinite" restart="never" nodeType="tmRoot">
          <p:childTnLst>
            <p:seq>
              <p:cTn id="74" dur="indefinite" nodeType="mainSeq">
                <p:childTnLst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961200" y="279360"/>
            <a:ext cx="82296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200" spc="-1" strike="noStrike">
                <a:solidFill>
                  <a:srgbClr val="000000"/>
                </a:solidFill>
                <a:latin typeface="Verdana"/>
              </a:rPr>
              <a:t>Allocation de la mémoire physique – allocation contiguë 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0" y="1404000"/>
            <a:ext cx="389016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Méthode d'allocations d'une zone libre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6000" y="1656000"/>
            <a:ext cx="503604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Trois stratégie existent pour le choix de la zone libre :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6120000" y="2520000"/>
            <a:ext cx="0" cy="36000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3168000" y="2520000"/>
            <a:ext cx="0" cy="3600000"/>
          </a:xfrm>
          <a:prstGeom prst="line">
            <a:avLst/>
          </a:prstGeom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0" y="5436000"/>
            <a:ext cx="2713680" cy="22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Stratégie de la première zone libre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3200400" y="5472000"/>
            <a:ext cx="2739600" cy="22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Stratégie de la meilleure zone libre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6120000" y="5459040"/>
            <a:ext cx="3122280" cy="22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Stratégie de la plus mauvaise zone libre</a:t>
            </a:r>
            <a:r>
              <a:rPr b="0" lang="fr-FR" sz="12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1"/>
          <a:stretch/>
        </p:blipFill>
        <p:spPr>
          <a:xfrm>
            <a:off x="72000" y="3096000"/>
            <a:ext cx="2946240" cy="2340000"/>
          </a:xfrm>
          <a:prstGeom prst="rect">
            <a:avLst/>
          </a:prstGeom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2"/>
          <a:stretch/>
        </p:blipFill>
        <p:spPr>
          <a:xfrm>
            <a:off x="3204000" y="3060000"/>
            <a:ext cx="2842200" cy="2376000"/>
          </a:xfrm>
          <a:prstGeom prst="rect">
            <a:avLst/>
          </a:prstGeom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3"/>
          <a:stretch/>
        </p:blipFill>
        <p:spPr>
          <a:xfrm>
            <a:off x="6156000" y="3107880"/>
            <a:ext cx="2911320" cy="2364120"/>
          </a:xfrm>
          <a:prstGeom prst="rect">
            <a:avLst/>
          </a:prstGeom>
          <a:ln w="0">
            <a:noFill/>
          </a:ln>
        </p:spPr>
      </p:pic>
      <p:sp>
        <p:nvSpPr>
          <p:cNvPr id="114" name=""/>
          <p:cNvSpPr txBox="1"/>
          <p:nvPr/>
        </p:nvSpPr>
        <p:spPr>
          <a:xfrm>
            <a:off x="1080000" y="2615040"/>
            <a:ext cx="697320" cy="22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First fit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320000" y="2520000"/>
            <a:ext cx="697320" cy="22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Best fit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7222680" y="2520000"/>
            <a:ext cx="798120" cy="22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Worst fit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B7E6ED-CFDE-4833-85DF-C656695DDE78}" type="slidenum">
              <a:t>8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5409E980-C501-4FBA-A02E-BDDE6D00E754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7" dur="indefinite" restart="never" nodeType="tmRoot">
          <p:childTnLst>
            <p:seq>
              <p:cTn id="88" dur="indefinite" nodeType="mainSeq">
                <p:childTnLst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925200" y="279360"/>
            <a:ext cx="82296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200" spc="-1" strike="noStrike">
                <a:solidFill>
                  <a:srgbClr val="000000"/>
                </a:solidFill>
                <a:latin typeface="Verdana"/>
              </a:rPr>
              <a:t>Allocation de la mémoire physique – allocation contiguë 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0" y="1704960"/>
            <a:ext cx="236304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Fragmentation externe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4452120" y="1776960"/>
            <a:ext cx="364788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Compactage de la mémoire centrale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29880" y="1980000"/>
            <a:ext cx="3750120" cy="3979080"/>
          </a:xfrm>
          <a:prstGeom prst="rect">
            <a:avLst/>
          </a:prstGeom>
          <a:ln w="0">
            <a:noFill/>
          </a:ln>
        </p:spPr>
      </p:pic>
      <p:pic>
        <p:nvPicPr>
          <p:cNvPr id="122" name="" descr=""/>
          <p:cNvPicPr/>
          <p:nvPr/>
        </p:nvPicPr>
        <p:blipFill>
          <a:blip r:embed="rId2"/>
          <a:stretch/>
        </p:blipFill>
        <p:spPr>
          <a:xfrm>
            <a:off x="3816000" y="2160000"/>
            <a:ext cx="5233320" cy="35809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C4D05A-4DB2-40E6-AE80-9FB5D676F7E5}" type="slidenum">
              <a:t>9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5A7BE8FF-DF44-4F0C-B20B-0DAF2DC2C7A8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9" dur="indefinite" restart="never" nodeType="tmRoot">
          <p:childTnLst>
            <p:seq>
              <p:cTn id="120" dur="indefinite" nodeType="mainSeq">
                <p:childTnLst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925200" y="279360"/>
            <a:ext cx="82296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200" spc="-1" strike="noStrike">
                <a:solidFill>
                  <a:srgbClr val="000000"/>
                </a:solidFill>
                <a:latin typeface="Verdana"/>
              </a:rPr>
              <a:t>Allocation de la mémoire physique – allocation contiguë 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80000" y="1620000"/>
            <a:ext cx="256572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Protection des partitions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1080000" y="2053080"/>
            <a:ext cx="7191000" cy="40669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879DE7-BEA7-4A18-B53E-FDD75D451491}" type="slidenum">
              <a:t>10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18DF011D-01E3-4BE0-B11D-136D2E14138C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889200" y="279360"/>
            <a:ext cx="83268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Allocation de la mémoire physique – allocation non contiguë 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36000" y="1512000"/>
            <a:ext cx="683604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La méthode d'allocation par partitions variables présente deux difficultés :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0" y="1980000"/>
            <a:ext cx="8321760" cy="45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Trouver en mémoire centrale une zone libre d'un seul tenant pour y placer le programme.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Fragmentation externe de la mémoire centrale.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0" y="3204000"/>
            <a:ext cx="8926560" cy="162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Pagination :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nsemble de morceaux de programme de taille fixe et égale, chaque morceau est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appelé </a:t>
            </a: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page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Segmentation 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: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ensemble de morceaux de programme de taille variable, chaque morceau est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appelé </a:t>
            </a: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segment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64800" y="2700000"/>
            <a:ext cx="9079200" cy="46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Une solution est de considérer que l'ensemble des mots constituant un programme est maintenant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un ensemble sécable.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A3464F-72D2-4638-8A73-003E2DD3D8BD}" type="slidenum">
              <a:t>11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04F3E2AD-C340-4FF9-84C1-249D883B39E9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7" dur="indefinite" restart="never" nodeType="tmRoot">
          <p:childTnLst>
            <p:seq>
              <p:cTn id="128" dur="indefinite" nodeType="mainSeq">
                <p:childTnLst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16840" y="408960"/>
            <a:ext cx="8326800" cy="126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Allocation de la mémoire physique – allocation non contiguë </a:t>
            </a:r>
            <a:br>
              <a:rPr sz="20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Pagination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0" y="1620000"/>
            <a:ext cx="9053280" cy="144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Principe de la pagination</a:t>
            </a:r>
            <a:br>
              <a:rPr sz="1600"/>
            </a:b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L'espace d'adressage du programme est découpé en morceaux linéaires de même taille appelés </a:t>
            </a:r>
            <a:br>
              <a:rPr sz="1600"/>
            </a:b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pages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L'espace de la mémoire physique est lui-même découpé en morceaux linéaires de même taille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appelés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 case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ou 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cadre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La taille d'une case est égale à la taille d'une page.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0" y="3564000"/>
            <a:ext cx="8550360" cy="82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table des cadres de pages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ou 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table des cases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qui indique pour chaque case de la mémoire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physique :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lnSpc>
                <a:spcPct val="76000"/>
              </a:lnSpc>
              <a:buClr>
                <a:srgbClr val="000000"/>
              </a:buClr>
              <a:buSzPct val="45000"/>
              <a:buFont typeface="Wingdings" charset="2"/>
              <a:buChar char="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si la case est libre ou occupée,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 lvl="1" marL="457200">
              <a:lnSpc>
                <a:spcPct val="76000"/>
              </a:lnSpc>
              <a:buClr>
                <a:srgbClr val="000000"/>
              </a:buClr>
              <a:buSzPct val="45000"/>
              <a:buFont typeface="Wingdings" charset="2"/>
              <a:buChar char="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et si elle est occupée, quelle page et quel processus la possèdent.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0" y="5004000"/>
            <a:ext cx="3083760" cy="45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Pas de fragmentation externe.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Fragmentation interne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ED8A77-9B9D-4533-8F81-BEFCAE76C1B7}" type="slidenum">
              <a:t>12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640C4B14-876C-43CA-A4F9-AA24927C7D25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49" dur="indefinite" restart="never" nodeType="tmRoot">
          <p:childTnLst>
            <p:seq>
              <p:cTn id="150" dur="indefinite" nodeType="mainSeq">
                <p:childTnLst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16840" y="408960"/>
            <a:ext cx="8326800" cy="126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Allocation de la mémoire physique – allocation non contiguë </a:t>
            </a:r>
            <a:br>
              <a:rPr sz="20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Pagination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0" y="1704600"/>
            <a:ext cx="2577960" cy="2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Principe de la pagination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1"/>
          <a:stretch/>
        </p:blipFill>
        <p:spPr>
          <a:xfrm>
            <a:off x="2868120" y="1663200"/>
            <a:ext cx="4301280" cy="48888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0E2EB5-7EB6-4DB4-A67F-EEE8EEAC68AC}" type="slidenum">
              <a:t>13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9C9EF08-C9F0-4C71-B259-39770AFD329C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16840" y="408960"/>
            <a:ext cx="8326800" cy="126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Allocation de la mémoire physique – allocation non contiguë </a:t>
            </a:r>
            <a:br>
              <a:rPr sz="20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Pagination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0" y="1656000"/>
            <a:ext cx="356868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Adresse logique et table des pages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0" y="2016000"/>
            <a:ext cx="462924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Conversion adresse logique – adresse  physique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-720" y="2424960"/>
            <a:ext cx="8422920" cy="45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L'adresse d'un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octet = &lt; numéro de page </a:t>
            </a: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 à laquelle appartient l'octet, déplacement </a:t>
            </a: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br>
              <a:rPr sz="1600"/>
            </a:b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relativement au début de la page p&gt;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0" y="4212000"/>
            <a:ext cx="8920800" cy="45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Les octets dans la mémoire physique ne peuvent être adressés au niveau matériel que par leur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adresse physique.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0" y="4860000"/>
            <a:ext cx="9163080" cy="119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L'adresse physique d'un octet = adresse physique d'implantation de la case contenant la page p +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déplacement 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de l'octet dans la page p.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C'est la MMU qui effectue cette conversion.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table de pages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: correspondance entre page et case de la mémoire centrale .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9" name=""/>
          <p:cNvGrpSpPr/>
          <p:nvPr/>
        </p:nvGrpSpPr>
        <p:grpSpPr>
          <a:xfrm>
            <a:off x="1476000" y="3168000"/>
            <a:ext cx="5580000" cy="1944000"/>
            <a:chOff x="1476000" y="3168000"/>
            <a:chExt cx="5580000" cy="1944000"/>
          </a:xfrm>
        </p:grpSpPr>
        <p:sp>
          <p:nvSpPr>
            <p:cNvPr id="150" name=""/>
            <p:cNvSpPr/>
            <p:nvPr/>
          </p:nvSpPr>
          <p:spPr>
            <a:xfrm>
              <a:off x="1476000" y="3168000"/>
              <a:ext cx="5580000" cy="360000"/>
            </a:xfrm>
            <a:prstGeom prst="rect">
              <a:avLst/>
            </a:prstGeom>
            <a:noFill/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>
                <a:lnSpc>
                  <a:spcPct val="76000"/>
                </a:lnSpc>
                <a:tabLst>
                  <a:tab algn="l" pos="0"/>
                  <a:tab algn="l" pos="448920"/>
                  <a:tab algn="l" pos="898200"/>
                  <a:tab algn="l" pos="1347480"/>
                  <a:tab algn="l" pos="1796760"/>
                  <a:tab algn="l" pos="2246040"/>
                  <a:tab algn="l" pos="2695320"/>
                  <a:tab algn="l" pos="3144600"/>
                  <a:tab algn="l" pos="3593880"/>
                  <a:tab algn="l" pos="4043160"/>
                  <a:tab algn="l" pos="4492440"/>
                  <a:tab algn="l" pos="4941720"/>
                  <a:tab algn="l" pos="5391000"/>
                  <a:tab algn="l" pos="5840280"/>
                  <a:tab algn="l" pos="6289560"/>
                  <a:tab algn="l" pos="6738840"/>
                  <a:tab algn="l" pos="7188120"/>
                  <a:tab algn="l" pos="7637400"/>
                  <a:tab algn="l" pos="8086680"/>
                  <a:tab algn="l" pos="8535960"/>
                  <a:tab algn="l" pos="8985240"/>
                </a:tabLst>
              </a:pPr>
              <a:endParaRPr b="0" lang="fr-FR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1476000" y="3708000"/>
              <a:ext cx="5580000" cy="0"/>
            </a:xfrm>
            <a:prstGeom prst="line">
              <a:avLst/>
            </a:prstGeom>
            <a:ln w="0">
              <a:solidFill>
                <a:srgbClr val="000000"/>
              </a:solidFill>
              <a:headEnd len="med" type="triangle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000" bIns="-45000" anchor="ctr" anchorCtr="1">
              <a:noAutofit/>
            </a:bodyPr>
            <a:p>
              <a:pPr>
                <a:lnSpc>
                  <a:spcPct val="76000"/>
                </a:lnSpc>
                <a:tabLst>
                  <a:tab algn="l" pos="0"/>
                  <a:tab algn="l" pos="448920"/>
                  <a:tab algn="l" pos="898200"/>
                  <a:tab algn="l" pos="1347480"/>
                  <a:tab algn="l" pos="1796760"/>
                  <a:tab algn="l" pos="2246040"/>
                  <a:tab algn="l" pos="2695320"/>
                  <a:tab algn="l" pos="3144600"/>
                  <a:tab algn="l" pos="3593880"/>
                  <a:tab algn="l" pos="4043160"/>
                  <a:tab algn="l" pos="4492440"/>
                  <a:tab algn="l" pos="4941720"/>
                  <a:tab algn="l" pos="5391000"/>
                  <a:tab algn="l" pos="5840280"/>
                  <a:tab algn="l" pos="6289560"/>
                  <a:tab algn="l" pos="6738840"/>
                  <a:tab algn="l" pos="7188120"/>
                  <a:tab algn="l" pos="7637400"/>
                  <a:tab algn="l" pos="8086680"/>
                  <a:tab algn="l" pos="8535960"/>
                  <a:tab algn="l" pos="8985240"/>
                </a:tabLst>
              </a:pPr>
              <a:endParaRPr b="0" lang="fr-FR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" name=""/>
            <p:cNvSpPr txBox="1"/>
            <p:nvPr/>
          </p:nvSpPr>
          <p:spPr>
            <a:xfrm>
              <a:off x="3996000" y="3492000"/>
              <a:ext cx="360000" cy="261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>
                <a:lnSpc>
                  <a:spcPct val="76000"/>
                </a:lnSpc>
                <a:tabLst>
                  <a:tab algn="l" pos="0"/>
                  <a:tab algn="l" pos="448920"/>
                  <a:tab algn="l" pos="898200"/>
                  <a:tab algn="l" pos="1347480"/>
                  <a:tab algn="l" pos="1796760"/>
                  <a:tab algn="l" pos="2246040"/>
                  <a:tab algn="l" pos="2695320"/>
                  <a:tab algn="l" pos="3144600"/>
                  <a:tab algn="l" pos="3593880"/>
                  <a:tab algn="l" pos="4043160"/>
                  <a:tab algn="l" pos="4492440"/>
                  <a:tab algn="l" pos="4941720"/>
                  <a:tab algn="l" pos="5391000"/>
                  <a:tab algn="l" pos="5840280"/>
                  <a:tab algn="l" pos="6289560"/>
                  <a:tab algn="l" pos="6738840"/>
                  <a:tab algn="l" pos="7188120"/>
                  <a:tab algn="l" pos="7637400"/>
                  <a:tab algn="l" pos="8086680"/>
                  <a:tab algn="l" pos="8535960"/>
                  <a:tab algn="l" pos="8985240"/>
                </a:tabLst>
              </a:pPr>
              <a:r>
                <a:rPr b="0" lang="fr-FR" sz="1200" spc="-1" strike="noStrike">
                  <a:solidFill>
                    <a:srgbClr val="000000"/>
                  </a:solidFill>
                  <a:latin typeface="Arial"/>
                </a:rPr>
                <a:t>m</a:t>
              </a:r>
              <a:endParaRPr b="0" lang="fr-FR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2376000" y="3168000"/>
              <a:ext cx="0" cy="360000"/>
            </a:xfrm>
            <a:prstGeom prst="line">
              <a:avLst/>
            </a:prstGeom>
            <a:ln w="0">
              <a:solidFill>
                <a:srgbClr val="00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 anchorCtr="1">
              <a:noAutofit/>
            </a:bodyPr>
            <a:p>
              <a:pPr>
                <a:lnSpc>
                  <a:spcPct val="76000"/>
                </a:lnSpc>
                <a:tabLst>
                  <a:tab algn="l" pos="0"/>
                  <a:tab algn="l" pos="448920"/>
                  <a:tab algn="l" pos="898200"/>
                  <a:tab algn="l" pos="1347480"/>
                  <a:tab algn="l" pos="1796760"/>
                  <a:tab algn="l" pos="2246040"/>
                  <a:tab algn="l" pos="2695320"/>
                  <a:tab algn="l" pos="3144600"/>
                  <a:tab algn="l" pos="3593880"/>
                  <a:tab algn="l" pos="4043160"/>
                  <a:tab algn="l" pos="4492440"/>
                  <a:tab algn="l" pos="4941720"/>
                  <a:tab algn="l" pos="5391000"/>
                  <a:tab algn="l" pos="5840280"/>
                  <a:tab algn="l" pos="6289560"/>
                  <a:tab algn="l" pos="6738840"/>
                  <a:tab algn="l" pos="7188120"/>
                  <a:tab algn="l" pos="7637400"/>
                  <a:tab algn="l" pos="8086680"/>
                  <a:tab algn="l" pos="8535960"/>
                  <a:tab algn="l" pos="8985240"/>
                </a:tabLst>
              </a:pPr>
              <a:endParaRPr b="0" lang="fr-FR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" name=""/>
            <p:cNvSpPr txBox="1"/>
            <p:nvPr/>
          </p:nvSpPr>
          <p:spPr>
            <a:xfrm>
              <a:off x="1512000" y="3231000"/>
              <a:ext cx="787320" cy="18810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>
                <a:lnSpc>
                  <a:spcPct val="76000"/>
                </a:lnSpc>
                <a:tabLst>
                  <a:tab algn="l" pos="0"/>
                  <a:tab algn="l" pos="448920"/>
                  <a:tab algn="l" pos="898200"/>
                  <a:tab algn="l" pos="1347480"/>
                  <a:tab algn="l" pos="1796760"/>
                  <a:tab algn="l" pos="2246040"/>
                  <a:tab algn="l" pos="2695320"/>
                  <a:tab algn="l" pos="3144600"/>
                  <a:tab algn="l" pos="3593880"/>
                  <a:tab algn="l" pos="4043160"/>
                  <a:tab algn="l" pos="4492440"/>
                  <a:tab algn="l" pos="4941720"/>
                  <a:tab algn="l" pos="5391000"/>
                  <a:tab algn="l" pos="5840280"/>
                  <a:tab algn="l" pos="6289560"/>
                  <a:tab algn="l" pos="6738840"/>
                  <a:tab algn="l" pos="7188120"/>
                  <a:tab algn="l" pos="7637400"/>
                  <a:tab algn="l" pos="8086680"/>
                  <a:tab algn="l" pos="8535960"/>
                  <a:tab algn="l" pos="8985240"/>
                </a:tabLst>
              </a:pPr>
              <a:r>
                <a:rPr b="0" i="1" lang="fr-FR" sz="1200" spc="-1" strike="noStrike">
                  <a:solidFill>
                    <a:srgbClr val="000000"/>
                  </a:solidFill>
                  <a:latin typeface="Arial"/>
                </a:rPr>
                <a:t>p = m - n</a:t>
              </a:r>
              <a:endParaRPr b="0" lang="fr-FR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5" name=""/>
            <p:cNvSpPr txBox="1"/>
            <p:nvPr/>
          </p:nvSpPr>
          <p:spPr>
            <a:xfrm>
              <a:off x="4212000" y="3231000"/>
              <a:ext cx="819000" cy="27504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pPr>
                <a:lnSpc>
                  <a:spcPct val="76000"/>
                </a:lnSpc>
                <a:tabLst>
                  <a:tab algn="l" pos="0"/>
                  <a:tab algn="l" pos="448920"/>
                  <a:tab algn="l" pos="898200"/>
                  <a:tab algn="l" pos="1347480"/>
                  <a:tab algn="l" pos="1796760"/>
                  <a:tab algn="l" pos="2246040"/>
                  <a:tab algn="l" pos="2695320"/>
                  <a:tab algn="l" pos="3144600"/>
                  <a:tab algn="l" pos="3593880"/>
                  <a:tab algn="l" pos="4043160"/>
                  <a:tab algn="l" pos="4492440"/>
                  <a:tab algn="l" pos="4941720"/>
                  <a:tab algn="l" pos="5391000"/>
                  <a:tab algn="l" pos="5840280"/>
                  <a:tab algn="l" pos="6289560"/>
                  <a:tab algn="l" pos="6738840"/>
                  <a:tab algn="l" pos="7188120"/>
                  <a:tab algn="l" pos="7637400"/>
                  <a:tab algn="l" pos="8086680"/>
                  <a:tab algn="l" pos="8535960"/>
                  <a:tab algn="l" pos="8985240"/>
                </a:tabLst>
              </a:pPr>
              <a:r>
                <a:rPr b="0" i="1" lang="fr-FR" sz="1200" spc="-1" strike="noStrike">
                  <a:solidFill>
                    <a:srgbClr val="000000"/>
                  </a:solidFill>
                  <a:latin typeface="Arial"/>
                </a:rPr>
                <a:t>n (d = 2</a:t>
              </a:r>
              <a:r>
                <a:rPr b="0" i="1" lang="fr-FR" sz="1200" spc="-1" strike="noStrike" baseline="33000">
                  <a:solidFill>
                    <a:srgbClr val="000000"/>
                  </a:solidFill>
                  <a:latin typeface="Arial"/>
                </a:rPr>
                <a:t>n</a:t>
              </a:r>
              <a:r>
                <a:rPr b="0" lang="fr-FR" sz="1600" spc="-1" strike="noStrike">
                  <a:solidFill>
                    <a:srgbClr val="000000"/>
                  </a:solidFill>
                  <a:latin typeface="Arial"/>
                </a:rPr>
                <a:t>)</a:t>
              </a:r>
              <a:endParaRPr b="0" lang="fr-FR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860D62-6454-4A25-9D06-05464C294F25}" type="slidenum">
              <a:t>14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3F3D4F57-06DC-439D-B68D-DCE4BA3CD54F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3" dur="indefinite" restart="never" nodeType="tmRoot">
          <p:childTnLst>
            <p:seq>
              <p:cTn id="184" dur="indefinite" nodeType="mainSeq">
                <p:childTnLst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16840" y="408960"/>
            <a:ext cx="8326800" cy="126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Allocation de la mémoire physique – allocation non contiguë </a:t>
            </a:r>
            <a:br>
              <a:rPr sz="20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Pagination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36000" y="1800000"/>
            <a:ext cx="204912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La table des pages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0" y="2160000"/>
            <a:ext cx="5147280" cy="138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Dans une première approche, la table des pages :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Contient autant d'entrées que de pages dans l'espace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d'adressage d'un processus.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Chaque processus a sa propre table des pages.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Chaque entrée de la table est un couple :</a:t>
            </a:r>
            <a:br>
              <a:rPr sz="1600"/>
            </a:b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&lt;numéro de page, numéro de case physique dans </a:t>
            </a:r>
            <a:br>
              <a:rPr sz="1600"/>
            </a:b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laquelle la page est chargée&gt;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1"/>
          <a:stretch/>
        </p:blipFill>
        <p:spPr>
          <a:xfrm>
            <a:off x="5112360" y="1632240"/>
            <a:ext cx="4028040" cy="48117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A3862E-FF72-438B-A416-D95EB5DE589D}" type="slidenum">
              <a:t>15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CB744CC-B0E8-4374-A71A-A22A75576103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09" dur="indefinite" restart="never" nodeType="tmRoot">
          <p:childTnLst>
            <p:seq>
              <p:cTn id="210" dur="indefinite" nodeType="mainSeq">
                <p:childTnLst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16840" y="408960"/>
            <a:ext cx="8326800" cy="126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Allocation de la mémoire physique – allocation non contiguë </a:t>
            </a:r>
            <a:br>
              <a:rPr sz="20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Pagination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36000" y="1476000"/>
            <a:ext cx="195336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La table des pages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0" y="1728000"/>
            <a:ext cx="797904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Chaque opération de commutation de contexte =&gt; un changement de table des pages.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0" y="2340000"/>
            <a:ext cx="8940600" cy="144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Deux approche existent pour la réalisation de la table des pages : </a:t>
            </a:r>
            <a:br>
              <a:rPr sz="1600"/>
            </a:b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La table des pages est une structure matérielle réalisée grâce à des registres de la MMU.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La table des pages est une structure logicielle placée en mémoire centrale.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Registre PTBR  (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page-table base register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) de la MMU = adresse en MC de la table des pages du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processus actif.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69840" y="3952440"/>
            <a:ext cx="7850160" cy="64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Dans la première approche :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accéder à un emplacement mémoire nécessite seulement un accès à la mémoire.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ne peut convenir que pour de petites tables des pages.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10800" y="5040000"/>
            <a:ext cx="9133200" cy="64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La deuxième approche :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accéder à un emplacement mémoire nécessite maintenant deux accès à la mémoire.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tables de très grande taille.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828328-14ED-4A32-B33E-1F922A46C285}" type="slidenum">
              <a:t>16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9F262B40-483F-4B9F-A3FD-2F5875D28FC0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3" dur="indefinite" restart="never" nodeType="tmRoot">
          <p:childTnLst>
            <p:seq>
              <p:cTn id="224" dur="indefinite" nodeType="mainSeq">
                <p:childTnLst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16840" y="408960"/>
            <a:ext cx="8326800" cy="126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Allocation de la mémoire physique – allocation non contiguë </a:t>
            </a:r>
            <a:br>
              <a:rPr sz="20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Pagination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36000" y="1476000"/>
            <a:ext cx="204912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La table des pages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432000" y="1842480"/>
            <a:ext cx="8100000" cy="44575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FE2871-06AF-4467-AFC9-4FB541C99C82}" type="slidenum">
              <a:t>17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A43FFF74-50F1-45A9-95E9-F9F493EDB746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816840" y="408960"/>
            <a:ext cx="8326800" cy="126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Allocation de la mémoire physique – allocation non contiguë </a:t>
            </a:r>
            <a:br>
              <a:rPr sz="20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Pagination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0" y="1620000"/>
            <a:ext cx="508644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Protection de l'espace d'adressage des processus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0" y="1880280"/>
            <a:ext cx="9144000" cy="64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Des bits de protections mémorisés dans la table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des pages sont associés à chaque page  du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processus.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" descr=""/>
          <p:cNvPicPr/>
          <p:nvPr/>
        </p:nvPicPr>
        <p:blipFill>
          <a:blip r:embed="rId1"/>
          <a:stretch/>
        </p:blipFill>
        <p:spPr>
          <a:xfrm>
            <a:off x="4860000" y="1900440"/>
            <a:ext cx="3721320" cy="421956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39BB72-B770-4E93-9283-2A7E6CEA9D81}" type="slidenum">
              <a:t>18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4A232115-E880-41A6-8685-0FC2096C9C2D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816840" y="408960"/>
            <a:ext cx="8326800" cy="126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Allocation de la mémoire physique – allocation non contiguë </a:t>
            </a:r>
            <a:br>
              <a:rPr sz="20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Segmentation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52560" y="5660280"/>
            <a:ext cx="9091440" cy="45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D'une manière générale, on trouvera un segment de code, un segment de données et un segment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de pile.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75600" y="5065560"/>
            <a:ext cx="9068400" cy="45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Un 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segment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est un ensemble d'emplacement mémoire non sécable.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Les segments d'un même espace d'adressage peuvent être de taille différente.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" descr=""/>
          <p:cNvPicPr/>
          <p:nvPr/>
        </p:nvPicPr>
        <p:blipFill>
          <a:blip r:embed="rId1"/>
          <a:stretch/>
        </p:blipFill>
        <p:spPr>
          <a:xfrm>
            <a:off x="1656000" y="1707120"/>
            <a:ext cx="6309000" cy="31111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41D4DD-3F4C-4C3B-8BFB-2F68C8409B22}" type="slidenum">
              <a:t>19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52EA988D-33D0-48D6-8FAD-EA2B151BF977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5" dur="indefinite" restart="never" nodeType="tmRoot">
          <p:childTnLst>
            <p:seq>
              <p:cTn id="266" dur="indefinite" nodeType="mainSeq">
                <p:childTnLst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816840" y="408960"/>
            <a:ext cx="8326800" cy="126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Allocation de la mémoire physique – allocation non contiguë </a:t>
            </a:r>
            <a:br>
              <a:rPr sz="20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Segmentation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0" y="1548000"/>
            <a:ext cx="392832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Adresse logique et table des segments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36000" y="1836000"/>
            <a:ext cx="457308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Conversion adresse logique – adresse physique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36000" y="2160000"/>
            <a:ext cx="7550280" cy="45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L'adresse d'un octet est donc formée par le couple :</a:t>
            </a:r>
            <a:br>
              <a:rPr sz="1600"/>
            </a:b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&lt;numéro de segment </a:t>
            </a: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, déplacement </a:t>
            </a: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 relativement au début du segment </a:t>
            </a: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0" y="3024000"/>
            <a:ext cx="9144000" cy="45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Il faut ici encore convertir l'adresse segmentée générée  au niveau du processeur en une adresse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physique équivalente.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0" y="3600000"/>
            <a:ext cx="8330760" cy="64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L'adresse physique d'un octet = l'adresse physique d'implantation en mémoire centrale +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le déplacement 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de l'octet dans le segment.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C'est la MMU qui effectue cette conversion.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0" y="4500000"/>
            <a:ext cx="8749800" cy="45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la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 table des segments 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: correspondance segment et l'adresse d'implantation dans la mémoire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centrale.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004ADB-A557-444F-A548-24DD799F2137}" type="slidenum">
              <a:t>20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8E4ADB3E-40F8-423D-89B7-BA1E58568294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9" dur="indefinite" restart="never" nodeType="tmRoot">
          <p:childTnLst>
            <p:seq>
              <p:cTn id="280" dur="indefinite" nodeType="mainSeq">
                <p:childTnLst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816840" y="408960"/>
            <a:ext cx="8326800" cy="126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Allocation de la mémoire physique – allocation non contiguë </a:t>
            </a:r>
            <a:br>
              <a:rPr sz="20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Segmentation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10800" y="1619640"/>
            <a:ext cx="240912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La table des segments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36000" y="1908000"/>
            <a:ext cx="5168880" cy="119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La table des segments est une table contenant autant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d'entrées que de segments dans l'espace d'adressage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d'un processus.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Chaque entrée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 i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de la table est un couple </a:t>
            </a:r>
            <a:br>
              <a:rPr sz="1600"/>
            </a:b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&lt;adresse </a:t>
            </a:r>
            <a:r>
              <a:rPr b="1" lang="fr-FR" sz="1600" spc="-1" strike="noStrike">
                <a:solidFill>
                  <a:srgbClr val="000000"/>
                </a:solidFill>
                <a:latin typeface="Courier New"/>
              </a:rPr>
              <a:t>adr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 d'implantation du segment, taille t du </a:t>
            </a:r>
            <a:br>
              <a:rPr sz="1600"/>
            </a:b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segment i&gt;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" descr=""/>
          <p:cNvPicPr/>
          <p:nvPr/>
        </p:nvPicPr>
        <p:blipFill>
          <a:blip r:embed="rId1"/>
          <a:stretch/>
        </p:blipFill>
        <p:spPr>
          <a:xfrm>
            <a:off x="5220000" y="1620000"/>
            <a:ext cx="3872880" cy="31478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F62B9A-7EC6-43AF-98E6-FDC1D9FBBEAB}" type="slidenum">
              <a:t>21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1BECB173-4BB0-4678-A095-3AC052312BB1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5" dur="indefinite" restart="never" nodeType="tmRoot">
          <p:childTnLst>
            <p:seq>
              <p:cTn id="306" dur="indefinite" nodeType="mainSeq">
                <p:childTnLst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816840" y="408960"/>
            <a:ext cx="8326800" cy="126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Allocation de la mémoire physique – allocation non contiguë </a:t>
            </a:r>
            <a:br>
              <a:rPr sz="20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Segmentation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10800" y="1619640"/>
            <a:ext cx="240912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La table des segments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0" y="1980000"/>
            <a:ext cx="8995320" cy="101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La table des segments est le plus souvent placée en mémoire centrale.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Le registre STBR (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Segment-Table Base Register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) contient l'adresse d'implantation en mémoire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centrale de la table de segments du processus actif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Le registre STLR (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Segment-Table length Register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) contient le nombre de segment existant dans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l'espace d'adressage du processus actif.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9" name="" descr=""/>
          <p:cNvPicPr/>
          <p:nvPr/>
        </p:nvPicPr>
        <p:blipFill>
          <a:blip r:embed="rId1"/>
          <a:stretch/>
        </p:blipFill>
        <p:spPr>
          <a:xfrm>
            <a:off x="2340000" y="3146760"/>
            <a:ext cx="4458600" cy="33829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A949C7-8512-4524-B5AE-999300A08C51}" type="slidenum">
              <a:t>22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2FDEAA77-FD40-43EE-B0FD-2022E76FBD8B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7" dur="indefinite" restart="never" nodeType="tmRoot">
          <p:childTnLst>
            <p:seq>
              <p:cTn id="318" dur="indefinite" nodeType="mainSeq">
                <p:childTnLst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816840" y="408960"/>
            <a:ext cx="8326800" cy="126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Allocation de la mémoire physique – allocation non contiguë </a:t>
            </a:r>
            <a:br>
              <a:rPr sz="20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Segmentation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0" y="1620000"/>
            <a:ext cx="510012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Protection de l'espace d'adressage d'un processus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0" y="1908000"/>
            <a:ext cx="898956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Reprendre la même présentation que pour la pagination, et remplacer le terme page par segment.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5760" y="2424960"/>
            <a:ext cx="262224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Pagination des segments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0" y="2700000"/>
            <a:ext cx="8524440" cy="64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L'allocation des segments en mémoire centrale s'effectue selon le même principe que pour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l'allocation de partitions variables.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Elle engendre les mêmes problèmes de fragmentation externe.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0" y="3600000"/>
            <a:ext cx="409104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Une solution est de paginer les segments.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0" y="4320000"/>
            <a:ext cx="424656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Une table des pages pour chaque segment.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0" y="4876560"/>
            <a:ext cx="8207640" cy="64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L'adresse d'un octet dans l'espace d'adressage du processus devient un couple 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&lt;s, d&gt;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,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le déplacement 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étant à son tour interprété comme étant un couple </a:t>
            </a:r>
            <a:br>
              <a:rPr sz="1600"/>
            </a:b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&lt;numéro de page p, déplacement d' dans cette page&gt;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9BAF81-ECDC-4CA3-9F6A-4A175D9D3B3F}" type="slidenum">
              <a:t>23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79DBA51-CF2A-4A80-8D94-078F649B4CC9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7" dur="indefinite" restart="never" nodeType="tmRoot">
          <p:childTnLst>
            <p:seq>
              <p:cTn id="328" dur="indefinite" nodeType="mainSeq">
                <p:childTnLst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816840" y="408960"/>
            <a:ext cx="8326800" cy="126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Allocation de la mémoire physique – allocation non contiguë </a:t>
            </a:r>
            <a:br>
              <a:rPr sz="20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Segmentation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77760" y="1440000"/>
            <a:ext cx="262224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Pagination des segments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2" name="" descr=""/>
          <p:cNvPicPr/>
          <p:nvPr/>
        </p:nvPicPr>
        <p:blipFill>
          <a:blip r:embed="rId1"/>
          <a:stretch/>
        </p:blipFill>
        <p:spPr>
          <a:xfrm>
            <a:off x="1782720" y="1800000"/>
            <a:ext cx="5597280" cy="45748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78FFD5-2317-41D6-8BC7-1372F2743952}" type="slidenum">
              <a:t>24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52617BF1-32F3-4923-BDA2-C893FB8FF6C8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816840" y="279360"/>
            <a:ext cx="83268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Mémoire virtuelle - Principe de la mémoire virtuelle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0" y="1800000"/>
            <a:ext cx="3480120" cy="101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La multiprogrammation implique de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charger plusieurs programmes en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mémoire centrale de manière à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obtenir un bon taux d'utilisation du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processeur.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33840" y="3687120"/>
            <a:ext cx="3286800" cy="101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Lorsqu'on regarde l'exécution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d'un processus, on s'aperçoit qu'à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un instant donné le processus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n'accède qu'à une partie de son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espace d'adressage.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7" name="" descr=""/>
          <p:cNvPicPr/>
          <p:nvPr/>
        </p:nvPicPr>
        <p:blipFill>
          <a:blip r:embed="rId1"/>
          <a:stretch/>
        </p:blipFill>
        <p:spPr>
          <a:xfrm>
            <a:off x="4140000" y="1346400"/>
            <a:ext cx="3779640" cy="49536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3124D5-F5A0-4593-8C3B-5A21E97C3058}" type="slidenum">
              <a:t>25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D38EF9E7-499B-42B6-B9B1-70096CEC822C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3" dur="indefinite" restart="never" nodeType="tmRoot">
          <p:childTnLst>
            <p:seq>
              <p:cTn id="354" dur="indefinite" nodeType="mainSeq">
                <p:childTnLst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816840" y="279360"/>
            <a:ext cx="83268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Mémoire virtuelle - Principe de la mémoire virtuelle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0" y="2340000"/>
            <a:ext cx="3054960" cy="101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principe de la mémoire </a:t>
            </a:r>
            <a:br>
              <a:rPr sz="1600"/>
            </a:b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virtuelle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autorise la constitution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de programme dont la taille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n'est plus limitée par celle de la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mémoire physique.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36000" y="3780000"/>
            <a:ext cx="3083760" cy="101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Chaque entrée de la table des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pages comporte un champ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validation V, qui est à 1 si la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page en mémoire centrale,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0 sinon.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0" y="5040000"/>
            <a:ext cx="2981880" cy="82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Le principe de la mémoire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virtuelle est couramment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implémenté avec la pagination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à la demande.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3" name="" descr=""/>
          <p:cNvPicPr/>
          <p:nvPr/>
        </p:nvPicPr>
        <p:blipFill>
          <a:blip r:embed="rId1"/>
          <a:stretch/>
        </p:blipFill>
        <p:spPr>
          <a:xfrm>
            <a:off x="3600000" y="1321200"/>
            <a:ext cx="3998160" cy="53172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DD596A-4B57-467A-8C30-0511CECBC65F}" type="slidenum">
              <a:t>26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561F0E8E-2609-4812-8148-ECF3D60B7E6A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63" dur="indefinite" restart="never" nodeType="tmRoot">
          <p:childTnLst>
            <p:seq>
              <p:cTn id="364" dur="indefinite" nodeType="mainSeq">
                <p:childTnLst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816840" y="279360"/>
            <a:ext cx="83268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Mémoire virtuelle - Le défaut de page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0" y="1764000"/>
            <a:ext cx="9065160" cy="341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Que se passe t-il à présent lorsqu'un processus tente d'accéder à une page de son espace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d'adressage qui n'est pas en mémoire centrale ?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La MMU accède à la table des pages pour effectuer la conversion de l'adresse logique vers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l'adresse physique et teste la valeur du bit de validation.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Si la valeur du bit V est à 0, cela signifie que la page n'est pas chargée dans une case et donc la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conversion ne peut se faire.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Une trappe appelée 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défaut de page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est levée qui suspend l'exécution du processus puis initialise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une opération d'entrées/sorties afin de charger la page manquante en mémoire centrale dans une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case libre.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Les pages constituants l'espace d'adressage du processus sont stockées dans une zone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particulière du disque communément appelée 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zone de swap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L'adresse de chaque page sur le disque est mémorisée dans l'entrée correspondante de la table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des pages.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3D2A44-C6CD-4BC8-921A-C2290AFFDE1A}" type="slidenum">
              <a:t>27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D560A13B-1612-436F-B0DC-CD5DFBBA8A5A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7" dur="indefinite" restart="never" nodeType="tmRoot">
          <p:childTnLst>
            <p:seq>
              <p:cTn id="378" dur="indefinite" nodeType="mainSeq">
                <p:childTnLst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7" fill="hold">
                      <p:stCondLst>
                        <p:cond delay="indefinite"/>
                      </p:stCondLst>
                      <p:childTnLst>
                        <p:par>
                          <p:cTn id="388" fill="hold">
                            <p:stCondLst>
                              <p:cond delay="0"/>
                            </p:stCondLst>
                            <p:childTnLst>
                              <p:par>
                                <p:cTn id="3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816840" y="279360"/>
            <a:ext cx="83268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Mémoire virtuelle - Le défaut de page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9" name="" descr=""/>
          <p:cNvPicPr/>
          <p:nvPr/>
        </p:nvPicPr>
        <p:blipFill>
          <a:blip r:embed="rId1"/>
          <a:stretch/>
        </p:blipFill>
        <p:spPr>
          <a:xfrm>
            <a:off x="2592000" y="1444320"/>
            <a:ext cx="4160160" cy="50356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0D0CF1-EDAC-43FE-AFD3-DF7653EF655C}" type="slidenum">
              <a:t>28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43252975-0703-46A7-9144-833E38259FE2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816840" y="243360"/>
            <a:ext cx="83268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Mémoire virtuelle - Le remplacement de pages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0" y="1656000"/>
            <a:ext cx="9191880" cy="1383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Lors d'un défaut de page, la page manquante est chargée dans une case libre. Cependant, la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totalité des cases de la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 mémoire centrale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peut être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occupée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 Il faut donc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 libérer une case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de la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mémoire physique pour y placer la nouvelle page. Lors de la libération d'une case,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la page victime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contenue dans cette case doit être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sauvegardée sur le support de masse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si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elle a été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modifiée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lors de son séjour en mémoire centrale. Un bit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de modification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mis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à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si la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page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est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modifiée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est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ajouté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à chaque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entrée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de la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 table des pages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afin d'être à même de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savoir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si la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page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doit être </a:t>
            </a:r>
            <a:br>
              <a:rPr sz="1600"/>
            </a:b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réécrite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sur le disque avant d'être écrasée par la nouvelle page.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3" name="" descr=""/>
          <p:cNvPicPr/>
          <p:nvPr/>
        </p:nvPicPr>
        <p:blipFill>
          <a:blip r:embed="rId1"/>
          <a:stretch/>
        </p:blipFill>
        <p:spPr>
          <a:xfrm>
            <a:off x="869040" y="3225600"/>
            <a:ext cx="7590960" cy="27144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5F3971-76F7-45EE-8649-9860F35C2DCB}" type="slidenum">
              <a:t>29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CB43166F-918D-4527-B292-2CC732A7767C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816840" y="243360"/>
            <a:ext cx="83268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Mémoire virtuelle - Le remplacement de pages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36000" y="1367640"/>
            <a:ext cx="8809560" cy="119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algorithmes de remplacement de pages 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: FIFO, LRU (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Least Recently Used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),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algorithme de la seconde chance, LFU (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Least Frequently used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) et MFU (Most Frequently Used).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Un exemple pour les stratégies FIFO et LRU sur la chaîne de références </a:t>
            </a:r>
            <a:br>
              <a:rPr sz="1600"/>
            </a:b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8, 1, 2, 3, 1, 4, 1, 5, 3, 4, 1, 4, 3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où chaque chiffre i correspond à un accès à la page i.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Nous supposerons une mémoire centrale composée de trois cases initialement vides.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4788000" y="3780000"/>
            <a:ext cx="0" cy="2160000"/>
          </a:xfrm>
          <a:custGeom>
            <a:avLst/>
            <a:gdLst/>
            <a:ahLst/>
            <a:rect l="0" t="0" r="r" b="b"/>
            <a:pathLst>
              <a:path fill="none" w="0" h="6000">
                <a:moveTo>
                  <a:pt x="0" y="0"/>
                </a:moveTo>
                <a:lnTo>
                  <a:pt x="0" y="6000"/>
                </a:lnTo>
              </a:path>
            </a:pathLst>
          </a:custGeom>
          <a:ln w="0">
            <a:solidFill>
              <a:srgbClr val="000000"/>
            </a:solidFill>
          </a:ln>
        </p:spPr>
        <p:txBody>
          <a:bodyPr lIns="90000" rIns="90000" tIns="45000" bIns="45000" anchor="ctr" anchorCtr="1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0" y="5220000"/>
            <a:ext cx="1657440" cy="22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Remplacement FIFO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4860000" y="5184000"/>
            <a:ext cx="1622520" cy="22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200" spc="-1" strike="noStrike">
                <a:solidFill>
                  <a:srgbClr val="000000"/>
                </a:solidFill>
                <a:latin typeface="Arial"/>
              </a:rPr>
              <a:t>Remplacement LRU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" descr=""/>
          <p:cNvPicPr/>
          <p:nvPr/>
        </p:nvPicPr>
        <p:blipFill>
          <a:blip r:embed="rId1"/>
          <a:stretch/>
        </p:blipFill>
        <p:spPr>
          <a:xfrm>
            <a:off x="36000" y="3780360"/>
            <a:ext cx="4608000" cy="1351440"/>
          </a:xfrm>
          <a:prstGeom prst="rect">
            <a:avLst/>
          </a:prstGeom>
          <a:ln w="0">
            <a:noFill/>
          </a:ln>
        </p:spPr>
      </p:pic>
      <p:pic>
        <p:nvPicPr>
          <p:cNvPr id="241" name="" descr=""/>
          <p:cNvPicPr/>
          <p:nvPr/>
        </p:nvPicPr>
        <p:blipFill>
          <a:blip r:embed="rId2"/>
          <a:stretch/>
        </p:blipFill>
        <p:spPr>
          <a:xfrm>
            <a:off x="4968000" y="3960000"/>
            <a:ext cx="4198680" cy="1260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E3DEC1-9EE6-40A5-A745-63F9BF68EBF2}" type="slidenum">
              <a:t>30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E65A0E57-7B1F-4C24-96D3-2574FBD680EB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9" dur="indefinite" restart="never" nodeType="tmRoot">
          <p:childTnLst>
            <p:seq>
              <p:cTn id="400" dur="indefinite" nodeType="mainSeq">
                <p:childTnLst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7" fill="hold">
                      <p:stCondLst>
                        <p:cond delay="indefinite"/>
                      </p:stCondLst>
                      <p:childTnLst>
                        <p:par>
                          <p:cTn id="418" fill="hold">
                            <p:stCondLst>
                              <p:cond delay="0"/>
                            </p:stCondLst>
                            <p:childTnLst>
                              <p:par>
                                <p:cTn id="4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816840" y="279360"/>
            <a:ext cx="83268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Mémoire virtuelle - Notion d'écroulement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0" y="1465560"/>
            <a:ext cx="8928360" cy="45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On appelle 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écroulement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, une haute activité de pagination. Un processus s'écroule lorsqu'il passe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plus de temps à paginer qu'a s'exécuter.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5" name="" descr=""/>
          <p:cNvPicPr/>
          <p:nvPr/>
        </p:nvPicPr>
        <p:blipFill>
          <a:blip r:embed="rId1"/>
          <a:stretch/>
        </p:blipFill>
        <p:spPr>
          <a:xfrm>
            <a:off x="1124280" y="1980000"/>
            <a:ext cx="6435720" cy="3960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98510C-76FF-45CE-9B15-C498D5913C25}" type="slidenum">
              <a:t>31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4692AC6B-4F61-49F6-AA58-6F39C6054864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816840" y="408960"/>
            <a:ext cx="8326800" cy="1267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Allocation de la mémoire physique – Mémoire virtuelle</a:t>
            </a:r>
            <a:br>
              <a:rPr sz="20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Swapping des processus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0" y="1800000"/>
            <a:ext cx="5534640" cy="82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Vidage (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swap-out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) d'un processus.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=&gt; désengorgement d'un seul coup de la mémoire centrale.</a:t>
            </a:r>
            <a:br>
              <a:rPr sz="1600"/>
            </a:b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L'opération inverse </a:t>
            </a:r>
            <a:r>
              <a:rPr b="0" i="1" lang="fr-FR" sz="1600" spc="-1" strike="noStrike">
                <a:solidFill>
                  <a:srgbClr val="000000"/>
                </a:solidFill>
                <a:latin typeface="Arial"/>
              </a:rPr>
              <a:t>swap-in.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9" name="" descr=""/>
          <p:cNvPicPr/>
          <p:nvPr/>
        </p:nvPicPr>
        <p:blipFill>
          <a:blip r:embed="rId1"/>
          <a:stretch/>
        </p:blipFill>
        <p:spPr>
          <a:xfrm>
            <a:off x="5760000" y="1800000"/>
            <a:ext cx="3047760" cy="42858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3DD8BC-FAF1-4B2F-8F4F-60A69A7F0DD6}" type="slidenum">
              <a:t>32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75CA8CC7-2FF5-45F3-A5F9-8F3C71A6938A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29" dur="indefinite" restart="never" nodeType="tmRoot">
          <p:childTnLst>
            <p:seq>
              <p:cTn id="430" dur="indefinite" nodeType="mainSeq">
                <p:childTnLst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816840" y="279360"/>
            <a:ext cx="83268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000" spc="-1" strike="noStrike">
                <a:solidFill>
                  <a:srgbClr val="000000"/>
                </a:solidFill>
                <a:latin typeface="Verdana"/>
              </a:rPr>
              <a:t>Conclusion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0" y="1476000"/>
            <a:ext cx="9149400" cy="644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L'allocation en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partition variable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considère le programme comme un ensemble d'adresses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insécables. Ce type d'allocation pose un problème de fragmentation et nécessite des opérations de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compactage  de la mémoire centrale.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0" y="2160000"/>
            <a:ext cx="9196560" cy="82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La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pagination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découpe l'espace d'adressage du programme en pages et la mémoire physique en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cases de même taille. Une adresse générée par le processeur est de la forme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&lt;numéro de page, déplacement dans la page&gt;. La table des pages du processus permet de traduire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l'adresse paginée en adresse physique.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0" y="3097440"/>
            <a:ext cx="9074880" cy="829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La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segmentation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découpe l'espace d'adressage du programme en segment correspondant à des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morceaux du programme. Une adresse générée par le processeur est de la forme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&lt;numéro de segment, déplacement dans le segment&gt;. La table des segment du processus permet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de traduire l'adresse l'adresse segmentée en adresse physique.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296000" y="4068000"/>
            <a:ext cx="643392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Remarque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: Segmentation et pagination sont très souvent associées.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0" y="4500000"/>
            <a:ext cx="9131400" cy="101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Lorsque le principe de la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 mémoire virtuelle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est appliqué, les pages d'un processus ne sont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chargées en mémoire centrale que lorsque le processus y accède (</a:t>
            </a:r>
            <a:r>
              <a:rPr b="1" i="1" lang="fr-FR" sz="1600" spc="-1" strike="noStrike">
                <a:solidFill>
                  <a:srgbClr val="000000"/>
                </a:solidFill>
                <a:latin typeface="Arial"/>
              </a:rPr>
              <a:t>pagination à la demande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).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Lorsqu'un processus accède à une page non présente en mémoire centrale, il se produit un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défaut </a:t>
            </a:r>
            <a:br>
              <a:rPr sz="1600"/>
            </a:b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de page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 La page manquante est alors chargée dans une case libre. Si aucune case n'est libre, le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système utilise un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algorithme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de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remplacement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de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pages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pour choisir une case à libérer.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10800" y="5652000"/>
            <a:ext cx="8812800" cy="459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L'écroulement est la situation pour laquelle un ou plusieurs processus passent plus de temps à </a:t>
            </a:r>
            <a:br>
              <a:rPr sz="1600"/>
            </a:b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paginer qu'à exécuter.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8C9E33-AA10-429F-95C5-25ABFF208918}" type="slidenum">
              <a:t>33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5A4D3EC7-0E2A-44D1-A0FC-A196C9FAFAB9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43" dur="indefinite" restart="never" nodeType="tmRoot">
          <p:childTnLst>
            <p:seq>
              <p:cTn id="444" dur="indefinite" nodeType="mainSeq">
                <p:childTnLst>
                  <p:par>
                    <p:cTn id="445" fill="hold">
                      <p:stCondLst>
                        <p:cond delay="indefinite"/>
                      </p:stCondLst>
                      <p:childTnLst>
                        <p:par>
                          <p:cTn id="446" fill="hold">
                            <p:stCondLst>
                              <p:cond delay="0"/>
                            </p:stCondLst>
                            <p:childTnLst>
                              <p:par>
                                <p:cTn id="4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9" fill="hold">
                      <p:stCondLst>
                        <p:cond delay="indefinite"/>
                      </p:stCondLst>
                      <p:childTnLst>
                        <p:par>
                          <p:cTn id="450" fill="hold">
                            <p:stCondLst>
                              <p:cond delay="0"/>
                            </p:stCondLst>
                            <p:childTnLst>
                              <p:par>
                                <p:cTn id="4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indefinite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57200" y="279360"/>
            <a:ext cx="82296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400" spc="-1" strike="noStrike">
                <a:solidFill>
                  <a:srgbClr val="000000"/>
                </a:solidFill>
                <a:latin typeface="Verdana"/>
              </a:rPr>
              <a:t>Exercices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0" name="" descr=""/>
          <p:cNvPicPr/>
          <p:nvPr/>
        </p:nvPicPr>
        <p:blipFill>
          <a:blip r:embed="rId1"/>
          <a:stretch/>
        </p:blipFill>
        <p:spPr>
          <a:xfrm>
            <a:off x="180000" y="2160000"/>
            <a:ext cx="4983120" cy="3334320"/>
          </a:xfrm>
          <a:prstGeom prst="rect">
            <a:avLst/>
          </a:prstGeom>
          <a:ln w="0">
            <a:noFill/>
          </a:ln>
        </p:spPr>
      </p:pic>
      <p:sp>
        <p:nvSpPr>
          <p:cNvPr id="261" name=""/>
          <p:cNvSpPr txBox="1"/>
          <p:nvPr/>
        </p:nvSpPr>
        <p:spPr>
          <a:xfrm>
            <a:off x="180000" y="1800000"/>
            <a:ext cx="550728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600" spc="-1" strike="noStrike" u="sng">
                <a:solidFill>
                  <a:srgbClr val="000000"/>
                </a:solidFill>
                <a:uFillTx/>
                <a:latin typeface="Arial"/>
              </a:rPr>
              <a:t>Exercice 1 :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Gestion de la mémoire par partitions variables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7C8CE5-BA99-4815-A493-CB7B4F4E6D60}" type="slidenum">
              <a:t>34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3877C6C6-642C-4161-A160-CB2A89D7611E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457200" y="279360"/>
            <a:ext cx="82296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400" spc="-1" strike="noStrike">
                <a:solidFill>
                  <a:srgbClr val="000000"/>
                </a:solidFill>
                <a:latin typeface="Verdana"/>
              </a:rPr>
              <a:t>Exercices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0" y="1800000"/>
            <a:ext cx="362196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600" spc="-1" strike="noStrike" u="sng">
                <a:solidFill>
                  <a:srgbClr val="000000"/>
                </a:solidFill>
                <a:uFillTx/>
                <a:latin typeface="Arial"/>
              </a:rPr>
              <a:t>Exercice 2 :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Remplacement de pages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-72000" y="2160000"/>
            <a:ext cx="930780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Soit la liste de pages virtuelles référencées aux instants t = 1, 2, ..., 11 : 3, 5, 6, 8, 3, 9, 6, 12, 3, 6, 10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0" y="2677680"/>
            <a:ext cx="859176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Donner l'état de la mémoire central composée de 4 cases selon les algorithmes FIFO et LRU.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9316F8-7D53-4C6B-95B9-7353616F44BA}" type="slidenum">
              <a:t>35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7C64B768-8B8D-4475-B0EF-C8368D2DF2C4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457200" y="279360"/>
            <a:ext cx="8229600" cy="123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1000"/>
              </a:lnSpc>
              <a:buNone/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en-GB" sz="3200" spc="-1" strike="noStrike">
                <a:solidFill>
                  <a:srgbClr val="000000"/>
                </a:solidFill>
                <a:latin typeface="Arial Narrow"/>
              </a:rPr>
              <a:t>Gestion de la mémoire centrale</a:t>
            </a:r>
            <a:br>
              <a:rPr sz="3200"/>
            </a:br>
            <a:r>
              <a:rPr b="0" i="1" lang="en-GB" sz="2400" spc="-1" strike="noStrike">
                <a:solidFill>
                  <a:srgbClr val="000000"/>
                </a:solidFill>
                <a:latin typeface="Verdana"/>
              </a:rPr>
              <a:t>Exercices</a:t>
            </a: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1044720" y="971640"/>
            <a:ext cx="6300720" cy="1440"/>
          </a:xfrm>
          <a:prstGeom prst="line">
            <a:avLst/>
          </a:prstGeom>
          <a:ln w="36000">
            <a:solidFill>
              <a:srgbClr val="b3b3b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-72000" y="1512000"/>
            <a:ext cx="4219560" cy="2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600" spc="-1" strike="noStrike" u="sng">
                <a:solidFill>
                  <a:srgbClr val="000000"/>
                </a:solidFill>
                <a:uFillTx/>
                <a:latin typeface="Arial"/>
              </a:rPr>
              <a:t>Exercice 3 :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Mémoire paginée et segmentée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0" y="1980000"/>
            <a:ext cx="9144000" cy="3414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On considère une mémoire segmentée paginée pour laquelle les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cases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en mémoire centrale sont de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4 Ko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 La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mémoire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centrale compte au total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15 cases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numérotées de 1 à 15. Dans ce contexte, on considère deux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processus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et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 Le processus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a un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espace d’adressage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composé de trois segments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S1A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S2A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et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S3A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qui sont respectivement de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8 Ko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,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12 Ko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et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4 Ko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 Le processus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a un espace d’adressage composé de deux segments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S1B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et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S2B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qui sont respectivement de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16 Ko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et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8 Ko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Pour le processus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, seules les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pages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et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 2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du segment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S1A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, la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page 2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du segment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S2A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et la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page 1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du segment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S3A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sont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chargées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en mémoire centrale respectivement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dans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les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cases 4, 5, 10, 6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 Pour le processus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, seules les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pages 2 et 3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du segment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S1B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et la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page 1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du segment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S2B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sont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chargées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en mémoire centrale respectivement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dans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les </a:t>
            </a: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cases 11, 2 et 15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. 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1.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Représentez sur un dessin les structures allouées (table des segments, tables des pages) et la mémoire centrale correspondant à l’allocation décrite.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2.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Soit l’adresse logique &lt;S1A, page 1, 12&gt;. Quelle adresse réelle lui correspond-elle ?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3.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Soit l’adresse logique &lt;S2B, page 2, 10&gt;. Quelle adresse réelle lui correspond-elle ?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1" lang="fr-FR" sz="1600" spc="-1" strike="noStrike">
                <a:solidFill>
                  <a:srgbClr val="000000"/>
                </a:solidFill>
                <a:latin typeface="Arial"/>
              </a:rPr>
              <a:t>4.</a:t>
            </a: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 Dans ce même contexte, donnez pour chacune des adresses linéaires suivantes, son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équivalent en adresse virtuelle, puis son adresse physique correspondante : 4 098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r>
              <a:rPr b="0" lang="fr-FR" sz="1600" spc="-1" strike="noStrike">
                <a:solidFill>
                  <a:srgbClr val="000000"/>
                </a:solidFill>
                <a:latin typeface="Arial"/>
              </a:rPr>
              <a:t>pour le processus A, 12 292 pour le processus A, 8 212 pour le processus B.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76000"/>
              </a:lnSpc>
              <a:tabLst>
                <a:tab algn="l" pos="0"/>
                <a:tab algn="l" pos="448920"/>
                <a:tab algn="l" pos="898200"/>
                <a:tab algn="l" pos="1347480"/>
                <a:tab algn="l" pos="1796760"/>
                <a:tab algn="l" pos="2246040"/>
                <a:tab algn="l" pos="2695320"/>
                <a:tab algn="l" pos="3144600"/>
                <a:tab algn="l" pos="3593880"/>
                <a:tab algn="l" pos="4043160"/>
                <a:tab algn="l" pos="4492440"/>
                <a:tab algn="l" pos="4941720"/>
                <a:tab algn="l" pos="5391000"/>
                <a:tab algn="l" pos="5840280"/>
                <a:tab algn="l" pos="6289560"/>
                <a:tab algn="l" pos="6738840"/>
                <a:tab algn="l" pos="7188120"/>
                <a:tab algn="l" pos="7637400"/>
                <a:tab algn="l" pos="8086680"/>
                <a:tab algn="l" pos="8535960"/>
                <a:tab algn="l" pos="8985240"/>
              </a:tabLst>
            </a:pP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0C8FF7-0B8E-4039-B45D-A21E11B6C724}" type="slidenum">
              <a:t>36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fld id="{E0CE9DEE-4F1B-4CD2-94EC-7C4E0A274CC6}" type="datetime1">
              <a:rPr lang="en-US"/>
              <a:t>06/08/25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58AE1F1B4EAE41AA5D45FA89F23B30" ma:contentTypeVersion="11" ma:contentTypeDescription="Crée un document." ma:contentTypeScope="" ma:versionID="af3a8447b9c561d24eb626beaa776d25">
  <xsd:schema xmlns:xsd="http://www.w3.org/2001/XMLSchema" xmlns:xs="http://www.w3.org/2001/XMLSchema" xmlns:p="http://schemas.microsoft.com/office/2006/metadata/properties" xmlns:ns2="fb67cf06-de83-4dde-bdc8-c9d2555ecf99" xmlns:ns3="43c9300f-d713-4702-8cc8-fa8bdc3c40bd" targetNamespace="http://schemas.microsoft.com/office/2006/metadata/properties" ma:root="true" ma:fieldsID="c456be7a26ea39ba590806608b97c9e9" ns2:_="" ns3:_="">
    <xsd:import namespace="fb67cf06-de83-4dde-bdc8-c9d2555ecf99"/>
    <xsd:import namespace="43c9300f-d713-4702-8cc8-fa8bdc3c40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7cf06-de83-4dde-bdc8-c9d2555ecf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alises d’images" ma:readOnly="false" ma:fieldId="{5cf76f15-5ced-4ddc-b409-7134ff3c332f}" ma:taxonomyMulti="true" ma:sspId="3b972a7f-0ff5-4d06-af94-aff851ef5c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9300f-d713-4702-8cc8-fa8bdc3c40b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3897638-9776-4d47-817f-a1af06ed1d14}" ma:internalName="TaxCatchAll" ma:showField="CatchAllData" ma:web="43c9300f-d713-4702-8cc8-fa8bdc3c40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67cf06-de83-4dde-bdc8-c9d2555ecf99">
      <Terms xmlns="http://schemas.microsoft.com/office/infopath/2007/PartnerControls"/>
    </lcf76f155ced4ddcb4097134ff3c332f>
    <TaxCatchAll xmlns="43c9300f-d713-4702-8cc8-fa8bdc3c40bd" xsi:nil="true"/>
  </documentManagement>
</p:properties>
</file>

<file path=customXml/itemProps1.xml><?xml version="1.0" encoding="utf-8"?>
<ds:datastoreItem xmlns:ds="http://schemas.openxmlformats.org/officeDocument/2006/customXml" ds:itemID="{FCB7A96D-EEFC-4D73-AD24-9A2E837E230A}"/>
</file>

<file path=customXml/itemProps2.xml><?xml version="1.0" encoding="utf-8"?>
<ds:datastoreItem xmlns:ds="http://schemas.openxmlformats.org/officeDocument/2006/customXml" ds:itemID="{AEF12B94-93D7-4D64-B2FF-295B5FC26175}"/>
</file>

<file path=customXml/itemProps3.xml><?xml version="1.0" encoding="utf-8"?>
<ds:datastoreItem xmlns:ds="http://schemas.openxmlformats.org/officeDocument/2006/customXml" ds:itemID="{CEAE238A-84F2-4B25-A607-048C54235DE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4059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Stagiaire</dc:creator>
  <dc:description/>
  <dc:language>en-US</dc:language>
  <cp:lastModifiedBy/>
  <dcterms:modified xsi:type="dcterms:W3CDTF">2013-10-03T11:55:11Z</dcterms:modified>
  <cp:revision>121</cp:revision>
  <dc:subject/>
  <dc:title>Diapositive 1</dc:title>
</cp:coreProperties>
</file>

<file path=docProps/core1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fo 1">
    <vt:lpwstr/>
  </property>
  <property fmtid="{D5CDD505-2E9C-101B-9397-08002B2CF9AE}" pid="3" name="Info 2">
    <vt:lpwstr/>
  </property>
  <property fmtid="{D5CDD505-2E9C-101B-9397-08002B2CF9AE}" pid="4" name="Info 3">
    <vt:lpwstr/>
  </property>
  <property fmtid="{D5CDD505-2E9C-101B-9397-08002B2CF9AE}" pid="5" name="Info 4">
    <vt:lpwstr/>
  </property>
  <property fmtid="{D5CDD505-2E9C-101B-9397-08002B2CF9AE}" pid="6" name="ContentTypeId">
    <vt:lpwstr>0x0101001558AE1F1B4EAE41AA5D45FA89F23B30</vt:lpwstr>
  </property>
  <property fmtid="{D5CDD505-2E9C-101B-9397-08002B2CF9AE}" pid="7" name="Order">
    <vt:r8>109800</vt:r8>
  </property>
  <property fmtid="{D5CDD505-2E9C-101B-9397-08002B2CF9AE}" pid="8" name="xd_Signature">
    <vt:bool>false</vt:bool>
  </property>
  <property fmtid="{D5CDD505-2E9C-101B-9397-08002B2CF9AE}" pid="9" name="xd_ProgID">
    <vt:lpwstr/>
  </property>
  <property fmtid="{D5CDD505-2E9C-101B-9397-08002B2CF9AE}" pid="10" name="_SourceUrl">
    <vt:lpwstr/>
  </property>
  <property fmtid="{D5CDD505-2E9C-101B-9397-08002B2CF9AE}" pid="11" name="_SharedFileIndex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  <property fmtid="{D5CDD505-2E9C-101B-9397-08002B2CF9AE}" pid="15" name="TriggerFlowInfo">
    <vt:lpwstr/>
  </property>
</Properties>
</file>