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466E0-6A7D-4B01-071E-2C36614EAA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langages fonctionnels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628EFA-B65E-4180-3A4B-D1A813CD3B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Paradigme, principes, langages et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7466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26AC7F-9B64-554D-2ADD-8EF3EF84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: différents paradigmes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10C00F-D91A-81B8-3D0D-169F9DE65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Paradigme = façon de penser / organiser le code</a:t>
            </a:r>
          </a:p>
          <a:p>
            <a:r>
              <a:rPr lang="fr-FR" dirty="0"/>
              <a:t>Principaux paradigmes : </a:t>
            </a:r>
          </a:p>
          <a:p>
            <a:pPr lvl="1"/>
            <a:r>
              <a:rPr lang="fr-FR" dirty="0"/>
              <a:t>impératif</a:t>
            </a:r>
          </a:p>
          <a:p>
            <a:pPr lvl="1"/>
            <a:r>
              <a:rPr lang="fr-FR" dirty="0"/>
              <a:t>orienté objet (POO)</a:t>
            </a:r>
          </a:p>
          <a:p>
            <a:pPr lvl="1"/>
            <a:r>
              <a:rPr lang="fr-FR" dirty="0"/>
              <a:t>fonctionnel</a:t>
            </a:r>
          </a:p>
          <a:p>
            <a:r>
              <a:rPr lang="fr-FR" dirty="0"/>
              <a:t>Objectif du jour : comprendre le </a:t>
            </a:r>
            <a:r>
              <a:rPr lang="fr-FR" b="1" dirty="0"/>
              <a:t>paradigme fonctionnel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716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0D41D-44F6-D9E3-4E21-BE7EBA75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Qu’est-ce qu’un langage fonctionnel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59EE96-536D-4350-432D-92BBD52DE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Programme vu comme </a:t>
            </a:r>
            <a:r>
              <a:rPr lang="fr-FR" b="1" dirty="0"/>
              <a:t>composition de fonctions</a:t>
            </a:r>
            <a:endParaRPr lang="fr-FR" dirty="0"/>
          </a:p>
          <a:p>
            <a:r>
              <a:rPr lang="fr-FR" dirty="0"/>
              <a:t>On décrit surtout </a:t>
            </a:r>
            <a:r>
              <a:rPr lang="fr-FR" b="1" dirty="0"/>
              <a:t>ce qu’on veut obtenir</a:t>
            </a:r>
            <a:endParaRPr lang="fr-FR" dirty="0"/>
          </a:p>
          <a:p>
            <a:r>
              <a:rPr lang="fr-FR" dirty="0"/>
              <a:t>On limite : </a:t>
            </a:r>
          </a:p>
          <a:p>
            <a:pPr lvl="1"/>
            <a:r>
              <a:rPr lang="fr-FR" dirty="0"/>
              <a:t>les </a:t>
            </a:r>
            <a:r>
              <a:rPr lang="fr-FR" b="1" dirty="0"/>
              <a:t>variables modifiables</a:t>
            </a:r>
            <a:endParaRPr lang="fr-FR" dirty="0"/>
          </a:p>
          <a:p>
            <a:pPr lvl="1"/>
            <a:r>
              <a:rPr lang="fr-FR" dirty="0"/>
              <a:t>les </a:t>
            </a:r>
            <a:r>
              <a:rPr lang="fr-FR" b="1" dirty="0"/>
              <a:t>effets de bord</a:t>
            </a:r>
            <a:endParaRPr lang="fr-FR" dirty="0"/>
          </a:p>
          <a:p>
            <a:r>
              <a:rPr lang="fr-FR" dirty="0"/>
              <a:t>Proche de la manière d’écrire des </a:t>
            </a:r>
            <a:r>
              <a:rPr lang="fr-FR" b="1" dirty="0"/>
              <a:t>fonctions mathématiques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0001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F13D01-BB7A-069A-3A62-FA2C52A7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les langages fonctionnels sont importants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2C5F52-06BF-0027-A088-137F5E81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Utilisés dans : </a:t>
            </a:r>
          </a:p>
          <a:p>
            <a:pPr lvl="1"/>
            <a:r>
              <a:rPr lang="fr-FR" b="1" dirty="0"/>
              <a:t>Big data</a:t>
            </a:r>
            <a:r>
              <a:rPr lang="fr-FR" dirty="0"/>
              <a:t> / analyse de données</a:t>
            </a:r>
          </a:p>
          <a:p>
            <a:pPr lvl="1"/>
            <a:r>
              <a:rPr lang="fr-FR" b="1" dirty="0"/>
              <a:t>Finance</a:t>
            </a:r>
            <a:r>
              <a:rPr lang="fr-FR" dirty="0"/>
              <a:t> / calculs critiques</a:t>
            </a:r>
          </a:p>
          <a:p>
            <a:pPr lvl="1"/>
            <a:r>
              <a:rPr lang="fr-FR" b="1" dirty="0"/>
              <a:t>Systèmes distribués</a:t>
            </a:r>
            <a:r>
              <a:rPr lang="fr-FR" dirty="0"/>
              <a:t> / serveurs web</a:t>
            </a:r>
          </a:p>
          <a:p>
            <a:r>
              <a:rPr lang="fr-FR" dirty="0"/>
              <a:t>Besoins dans ces domaines : </a:t>
            </a:r>
          </a:p>
          <a:p>
            <a:pPr lvl="1"/>
            <a:r>
              <a:rPr lang="fr-FR" b="1" dirty="0"/>
              <a:t>Fiabilité</a:t>
            </a:r>
            <a:r>
              <a:rPr lang="fr-FR" dirty="0"/>
              <a:t> (moins de bugs)</a:t>
            </a:r>
          </a:p>
          <a:p>
            <a:pPr lvl="1"/>
            <a:r>
              <a:rPr lang="fr-FR" b="1" dirty="0"/>
              <a:t>Performance</a:t>
            </a:r>
            <a:endParaRPr lang="fr-FR" dirty="0"/>
          </a:p>
          <a:p>
            <a:pPr lvl="1"/>
            <a:r>
              <a:rPr lang="fr-FR" b="1" dirty="0"/>
              <a:t>Prédictibilité</a:t>
            </a:r>
            <a:r>
              <a:rPr lang="fr-FR" dirty="0"/>
              <a:t> du code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84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337AC-DC87-B8C5-3D7E-B523A7C3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Immutabilité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06192C-EF37-848B-039D-7FE374D06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Données </a:t>
            </a:r>
            <a:r>
              <a:rPr lang="fr-FR" b="1" dirty="0"/>
              <a:t>immutables</a:t>
            </a:r>
            <a:r>
              <a:rPr lang="fr-FR" dirty="0"/>
              <a:t> : ne changent pas après création</a:t>
            </a:r>
          </a:p>
          <a:p>
            <a:r>
              <a:rPr lang="fr-FR" dirty="0"/>
              <a:t>On crée une </a:t>
            </a:r>
            <a:r>
              <a:rPr lang="fr-FR" b="1" dirty="0"/>
              <a:t>nouvelle valeur</a:t>
            </a:r>
            <a:r>
              <a:rPr lang="fr-FR" dirty="0"/>
              <a:t> au lieu de modifier l’ancienne</a:t>
            </a:r>
          </a:p>
          <a:p>
            <a:r>
              <a:rPr lang="fr-FR" dirty="0"/>
              <a:t>Avantages : </a:t>
            </a:r>
          </a:p>
          <a:p>
            <a:pPr lvl="1"/>
            <a:r>
              <a:rPr lang="fr-FR" dirty="0"/>
              <a:t>moins de bugs liés à l’</a:t>
            </a:r>
            <a:r>
              <a:rPr lang="fr-FR" b="1" dirty="0"/>
              <a:t>état</a:t>
            </a:r>
            <a:endParaRPr lang="fr-FR" dirty="0"/>
          </a:p>
          <a:p>
            <a:pPr lvl="1"/>
            <a:r>
              <a:rPr lang="fr-FR" dirty="0"/>
              <a:t>plus facile à comprendre et à suivre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715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BA45F9-0911-1270-ED1A-3D49A495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pures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D5C000-0204-C3AE-FFB3-620E61603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Même entrée → </a:t>
            </a:r>
            <a:r>
              <a:rPr lang="fr-FR" b="1" dirty="0"/>
              <a:t>même sortie</a:t>
            </a:r>
            <a:r>
              <a:rPr lang="fr-FR" dirty="0"/>
              <a:t>, toujours</a:t>
            </a:r>
          </a:p>
          <a:p>
            <a:r>
              <a:rPr lang="fr-FR" dirty="0"/>
              <a:t>Pas d’</a:t>
            </a:r>
            <a:r>
              <a:rPr lang="fr-FR" b="1" dirty="0"/>
              <a:t>effets de bord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pas de modification de variables globales</a:t>
            </a:r>
          </a:p>
          <a:p>
            <a:pPr lvl="1"/>
            <a:r>
              <a:rPr lang="fr-FR" dirty="0"/>
              <a:t>pas d’écriture cachée (fichiers, écran, etc.)</a:t>
            </a:r>
          </a:p>
          <a:p>
            <a:r>
              <a:rPr lang="fr-FR" dirty="0"/>
              <a:t>Avantages : </a:t>
            </a:r>
          </a:p>
          <a:p>
            <a:pPr lvl="1"/>
            <a:r>
              <a:rPr lang="fr-FR" b="1" dirty="0"/>
              <a:t>prévisibles</a:t>
            </a:r>
            <a:endParaRPr lang="fr-FR" dirty="0"/>
          </a:p>
          <a:p>
            <a:pPr lvl="1"/>
            <a:r>
              <a:rPr lang="fr-FR" b="1" dirty="0"/>
              <a:t>faciles à tester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576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A0F6D-BE83-AAA5-11E9-57844711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d’ordre supérieur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E7A5C-8227-D746-F87D-AA1AE7A82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fonction peut : </a:t>
            </a:r>
          </a:p>
          <a:p>
            <a:pPr lvl="1"/>
            <a:r>
              <a:rPr lang="fr-FR" dirty="0"/>
              <a:t>prendre une </a:t>
            </a:r>
            <a:r>
              <a:rPr lang="fr-FR" b="1" dirty="0"/>
              <a:t>fonction</a:t>
            </a:r>
            <a:r>
              <a:rPr lang="fr-FR" dirty="0"/>
              <a:t> en paramètre</a:t>
            </a:r>
          </a:p>
          <a:p>
            <a:pPr lvl="1"/>
            <a:r>
              <a:rPr lang="fr-FR" b="1" dirty="0"/>
              <a:t>retourner</a:t>
            </a:r>
            <a:r>
              <a:rPr lang="fr-FR" dirty="0"/>
              <a:t> une fonction</a:t>
            </a:r>
          </a:p>
          <a:p>
            <a:r>
              <a:rPr lang="fr-FR" dirty="0"/>
              <a:t>Fonctions classiques : </a:t>
            </a:r>
          </a:p>
          <a:p>
            <a:pPr lvl="1"/>
            <a:r>
              <a:rPr lang="fr-FR" dirty="0" err="1"/>
              <a:t>map</a:t>
            </a:r>
            <a:r>
              <a:rPr lang="fr-FR" dirty="0"/>
              <a:t> : applique une fonction à chaque élément</a:t>
            </a:r>
          </a:p>
          <a:p>
            <a:pPr lvl="1"/>
            <a:r>
              <a:rPr lang="fr-FR" dirty="0" err="1"/>
              <a:t>filter</a:t>
            </a:r>
            <a:r>
              <a:rPr lang="fr-FR" dirty="0"/>
              <a:t> : garde certains éléments</a:t>
            </a:r>
          </a:p>
          <a:p>
            <a:pPr lvl="1"/>
            <a:r>
              <a:rPr lang="fr-FR" dirty="0" err="1"/>
              <a:t>reduce</a:t>
            </a:r>
            <a:r>
              <a:rPr lang="fr-FR" dirty="0"/>
              <a:t> / </a:t>
            </a:r>
            <a:r>
              <a:rPr lang="fr-FR" dirty="0" err="1"/>
              <a:t>fold</a:t>
            </a:r>
            <a:r>
              <a:rPr lang="fr-FR" dirty="0"/>
              <a:t> : combine les éléments en un résultat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848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8ABCC-11B9-43E3-39E2-114EB660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Récursion et transparence référentielle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034F7D-3078-5EBD-87BB-5DA45391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Récursion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souvent utilisée à la place des boucles for / </a:t>
            </a:r>
            <a:r>
              <a:rPr lang="fr-FR" dirty="0" err="1"/>
              <a:t>while</a:t>
            </a:r>
            <a:endParaRPr lang="fr-FR" dirty="0"/>
          </a:p>
          <a:p>
            <a:r>
              <a:rPr lang="fr-FR" b="1" dirty="0"/>
              <a:t>Transparence référentielle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une expression peut être remplacée par sa </a:t>
            </a:r>
            <a:r>
              <a:rPr lang="fr-FR" b="1" dirty="0"/>
              <a:t>valeur</a:t>
            </a:r>
            <a:endParaRPr lang="fr-FR" dirty="0"/>
          </a:p>
          <a:p>
            <a:pPr lvl="1"/>
            <a:r>
              <a:rPr lang="fr-FR" dirty="0"/>
              <a:t>le comportement du programme ne change pas</a:t>
            </a:r>
          </a:p>
          <a:p>
            <a:r>
              <a:rPr lang="fr-FR" dirty="0"/>
              <a:t>Aide : </a:t>
            </a:r>
          </a:p>
          <a:p>
            <a:pPr lvl="1"/>
            <a:r>
              <a:rPr lang="fr-FR" dirty="0"/>
              <a:t>le </a:t>
            </a:r>
            <a:r>
              <a:rPr lang="fr-FR" b="1" dirty="0"/>
              <a:t>raisonnement</a:t>
            </a:r>
            <a:r>
              <a:rPr lang="fr-FR" dirty="0"/>
              <a:t> sur le code</a:t>
            </a:r>
          </a:p>
          <a:p>
            <a:pPr lvl="1"/>
            <a:r>
              <a:rPr lang="fr-FR" dirty="0"/>
              <a:t>les </a:t>
            </a:r>
            <a:r>
              <a:rPr lang="fr-FR" b="1" dirty="0"/>
              <a:t>optimisations</a:t>
            </a:r>
            <a:r>
              <a:rPr lang="fr-FR" dirty="0"/>
              <a:t> du compilateur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798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B1F68-4C11-FB6F-B853-28692B53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 fonctionnelle vs POO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44134A-AD8A-6A1D-E12E-58E4D6AEB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POO : </a:t>
            </a:r>
          </a:p>
          <a:p>
            <a:pPr lvl="1"/>
            <a:r>
              <a:rPr lang="fr-FR" dirty="0"/>
              <a:t>objets avec </a:t>
            </a:r>
            <a:r>
              <a:rPr lang="fr-FR" b="1" dirty="0"/>
              <a:t>état interne</a:t>
            </a:r>
            <a:endParaRPr lang="fr-FR" dirty="0"/>
          </a:p>
          <a:p>
            <a:pPr lvl="1"/>
            <a:r>
              <a:rPr lang="fr-FR" dirty="0"/>
              <a:t>méthodes qui modifient cet état</a:t>
            </a:r>
          </a:p>
          <a:p>
            <a:r>
              <a:rPr lang="fr-FR" dirty="0"/>
              <a:t>Fonctionnel : </a:t>
            </a:r>
          </a:p>
          <a:p>
            <a:pPr lvl="1"/>
            <a:r>
              <a:rPr lang="fr-FR" b="1" dirty="0"/>
              <a:t>moins d’état mutable</a:t>
            </a:r>
            <a:endParaRPr lang="fr-FR" dirty="0"/>
          </a:p>
          <a:p>
            <a:pPr lvl="1"/>
            <a:r>
              <a:rPr lang="fr-FR" b="1" dirty="0"/>
              <a:t>fonctions pures</a:t>
            </a:r>
            <a:r>
              <a:rPr lang="fr-FR" dirty="0"/>
              <a:t> privilégiées</a:t>
            </a:r>
          </a:p>
          <a:p>
            <a:pPr lvl="1"/>
            <a:r>
              <a:rPr lang="fr-FR" dirty="0"/>
              <a:t>création de </a:t>
            </a:r>
            <a:r>
              <a:rPr lang="fr-FR" b="1" dirty="0"/>
              <a:t>nouvelles valeurs</a:t>
            </a:r>
            <a:endParaRPr lang="fr-FR" dirty="0"/>
          </a:p>
          <a:p>
            <a:r>
              <a:rPr lang="fr-FR" dirty="0"/>
              <a:t>Avantages du fonctionnel : </a:t>
            </a:r>
          </a:p>
          <a:p>
            <a:pPr lvl="1"/>
            <a:r>
              <a:rPr lang="fr-FR" dirty="0"/>
              <a:t>moins de bugs liés à l’état</a:t>
            </a:r>
          </a:p>
          <a:p>
            <a:pPr lvl="1"/>
            <a:r>
              <a:rPr lang="fr-FR" dirty="0"/>
              <a:t>plus adapté au </a:t>
            </a:r>
            <a:r>
              <a:rPr lang="fr-FR" b="1" dirty="0"/>
              <a:t>parallélisme</a:t>
            </a:r>
            <a:endParaRPr lang="fr-FR" dirty="0"/>
          </a:p>
          <a:p>
            <a:pPr lvl="1"/>
            <a:r>
              <a:rPr lang="fr-FR" dirty="0"/>
              <a:t>tests unitaires plus simples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2478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FAA66F-1CE0-7571-AFFA-5E7C783CE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Quelques langages fonctionnels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98EF7E-AD58-5130-67E5-B285E1362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Haskell</a:t>
            </a:r>
            <a:r>
              <a:rPr lang="fr-FR" dirty="0"/>
              <a:t> : fonctionnel pur, typage strict</a:t>
            </a:r>
          </a:p>
          <a:p>
            <a:r>
              <a:rPr lang="fr-FR" b="1" dirty="0" err="1"/>
              <a:t>OCaml</a:t>
            </a:r>
            <a:r>
              <a:rPr lang="fr-FR" dirty="0"/>
              <a:t> : </a:t>
            </a:r>
            <a:r>
              <a:rPr lang="fr-FR" dirty="0" err="1"/>
              <a:t>multi-paradigme</a:t>
            </a:r>
            <a:r>
              <a:rPr lang="fr-FR" dirty="0"/>
              <a:t>, performant</a:t>
            </a:r>
          </a:p>
          <a:p>
            <a:r>
              <a:rPr lang="fr-FR" b="1" dirty="0"/>
              <a:t>Scala</a:t>
            </a:r>
            <a:r>
              <a:rPr lang="fr-FR" dirty="0"/>
              <a:t> : OO + fonctionnel, tourne sur la JVM</a:t>
            </a:r>
          </a:p>
          <a:p>
            <a:r>
              <a:rPr lang="fr-FR" b="1" dirty="0"/>
              <a:t>Elixir</a:t>
            </a:r>
            <a:r>
              <a:rPr lang="fr-FR" dirty="0"/>
              <a:t> : fonctionnel, très concurrent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6995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0D0B1C-BC3B-E859-E161-959E24DD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Haskell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33A3B8-A562-FBA6-618F-795CB609A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Langage </a:t>
            </a:r>
            <a:r>
              <a:rPr lang="fr-FR" b="1" dirty="0"/>
              <a:t>fonctionnel pur</a:t>
            </a:r>
            <a:endParaRPr lang="fr-FR" dirty="0"/>
          </a:p>
          <a:p>
            <a:r>
              <a:rPr lang="fr-FR" dirty="0"/>
              <a:t>Typage </a:t>
            </a:r>
            <a:r>
              <a:rPr lang="fr-FR" b="1" dirty="0"/>
              <a:t>statique</a:t>
            </a:r>
            <a:r>
              <a:rPr lang="fr-FR" dirty="0"/>
              <a:t> et très </a:t>
            </a:r>
            <a:r>
              <a:rPr lang="fr-FR" b="1" dirty="0"/>
              <a:t>strict</a:t>
            </a:r>
            <a:endParaRPr lang="fr-FR" dirty="0"/>
          </a:p>
          <a:p>
            <a:r>
              <a:rPr lang="fr-FR" dirty="0"/>
              <a:t>Effets de bord fortement contrôlés</a:t>
            </a:r>
          </a:p>
          <a:p>
            <a:r>
              <a:rPr lang="fr-FR" dirty="0"/>
              <a:t>Utilisé pour : </a:t>
            </a:r>
          </a:p>
          <a:p>
            <a:pPr lvl="1"/>
            <a:r>
              <a:rPr lang="fr-FR" dirty="0"/>
              <a:t>la </a:t>
            </a:r>
            <a:r>
              <a:rPr lang="fr-FR" b="1" dirty="0"/>
              <a:t>recherche</a:t>
            </a:r>
            <a:endParaRPr lang="fr-FR" dirty="0"/>
          </a:p>
          <a:p>
            <a:pPr lvl="1"/>
            <a:r>
              <a:rPr lang="fr-FR" dirty="0"/>
              <a:t>des projets à </a:t>
            </a:r>
            <a:r>
              <a:rPr lang="fr-FR" b="1" dirty="0"/>
              <a:t>forte fiabilité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017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A82EA9-547A-2E48-22CB-C2A78B08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OCaml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14E71E-AF0E-3925-9728-3D6EC15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Langage </a:t>
            </a:r>
            <a:r>
              <a:rPr lang="fr-FR" b="1" dirty="0" err="1"/>
              <a:t>multi-paradigme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fonctionnel, impératif, objet</a:t>
            </a:r>
          </a:p>
          <a:p>
            <a:r>
              <a:rPr lang="fr-FR" dirty="0"/>
              <a:t>Points forts : </a:t>
            </a:r>
          </a:p>
          <a:p>
            <a:pPr lvl="1"/>
            <a:r>
              <a:rPr lang="fr-FR" b="1" dirty="0"/>
              <a:t>performance</a:t>
            </a:r>
            <a:endParaRPr lang="fr-FR" dirty="0"/>
          </a:p>
          <a:p>
            <a:pPr lvl="1"/>
            <a:r>
              <a:rPr lang="fr-FR" b="1" dirty="0"/>
              <a:t>compilateur</a:t>
            </a:r>
            <a:r>
              <a:rPr lang="fr-FR" dirty="0"/>
              <a:t> rapide</a:t>
            </a:r>
          </a:p>
          <a:p>
            <a:r>
              <a:rPr lang="fr-FR" dirty="0"/>
              <a:t>Utilisation : </a:t>
            </a:r>
          </a:p>
          <a:p>
            <a:pPr lvl="1"/>
            <a:r>
              <a:rPr lang="fr-FR" b="1" dirty="0"/>
              <a:t>finance</a:t>
            </a:r>
            <a:r>
              <a:rPr lang="fr-FR" dirty="0"/>
              <a:t> (calculs de risque)</a:t>
            </a:r>
          </a:p>
          <a:p>
            <a:pPr lvl="1"/>
            <a:r>
              <a:rPr lang="fr-FR" b="1" dirty="0"/>
              <a:t>compilateurs</a:t>
            </a:r>
            <a:r>
              <a:rPr lang="fr-FR" dirty="0"/>
              <a:t> / outils d’analyse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559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E90137-FC88-5AC3-43C2-D27C4DD9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Scala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EFF5A6-E012-917A-AF94-ED2AE39B8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Langage </a:t>
            </a:r>
            <a:r>
              <a:rPr lang="fr-FR" b="1" dirty="0"/>
              <a:t>OO + fonctionnel</a:t>
            </a:r>
            <a:endParaRPr lang="fr-FR" dirty="0"/>
          </a:p>
          <a:p>
            <a:r>
              <a:rPr lang="fr-FR" dirty="0"/>
              <a:t>Tourne sur la </a:t>
            </a:r>
            <a:r>
              <a:rPr lang="fr-FR" b="1" dirty="0"/>
              <a:t>JVM</a:t>
            </a:r>
            <a:endParaRPr lang="fr-FR" dirty="0"/>
          </a:p>
          <a:p>
            <a:r>
              <a:rPr lang="fr-FR" dirty="0"/>
              <a:t>Compatible avec les </a:t>
            </a:r>
            <a:r>
              <a:rPr lang="fr-FR" b="1" dirty="0"/>
              <a:t>librairies Java</a:t>
            </a:r>
            <a:endParaRPr lang="fr-FR" dirty="0"/>
          </a:p>
          <a:p>
            <a:r>
              <a:rPr lang="fr-FR" dirty="0"/>
              <a:t>Utilisé pour : </a:t>
            </a:r>
          </a:p>
          <a:p>
            <a:pPr lvl="1"/>
            <a:r>
              <a:rPr lang="fr-FR" b="1" dirty="0"/>
              <a:t>Apache Spark</a:t>
            </a:r>
            <a:endParaRPr lang="fr-FR" dirty="0"/>
          </a:p>
          <a:p>
            <a:pPr lvl="1"/>
            <a:r>
              <a:rPr lang="fr-FR" dirty="0"/>
              <a:t>backends </a:t>
            </a:r>
            <a:r>
              <a:rPr lang="fr-FR" b="1" dirty="0"/>
              <a:t>big data</a:t>
            </a:r>
            <a:r>
              <a:rPr lang="fr-FR" dirty="0"/>
              <a:t> / web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648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7449A-777E-E467-6E3F-E67A3E1B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Elixir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F2E5F-A9FE-84C3-1D38-46EC94FEE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Langage fonctionnel moderne</a:t>
            </a:r>
          </a:p>
          <a:p>
            <a:r>
              <a:rPr lang="fr-FR" dirty="0"/>
              <a:t>Basé sur la machine virtuelle </a:t>
            </a:r>
            <a:r>
              <a:rPr lang="fr-FR" b="1" dirty="0"/>
              <a:t>Erlang</a:t>
            </a:r>
            <a:endParaRPr lang="fr-FR" dirty="0"/>
          </a:p>
          <a:p>
            <a:r>
              <a:rPr lang="fr-FR" dirty="0"/>
              <a:t>Conçu pour : </a:t>
            </a:r>
          </a:p>
          <a:p>
            <a:pPr lvl="1"/>
            <a:r>
              <a:rPr lang="fr-FR" b="1" dirty="0"/>
              <a:t>concurrence</a:t>
            </a:r>
            <a:r>
              <a:rPr lang="fr-FR" dirty="0"/>
              <a:t> massive</a:t>
            </a:r>
          </a:p>
          <a:p>
            <a:pPr lvl="1"/>
            <a:r>
              <a:rPr lang="fr-FR" b="1" dirty="0"/>
              <a:t>haute disponibilité</a:t>
            </a:r>
            <a:endParaRPr lang="fr-FR" dirty="0"/>
          </a:p>
          <a:p>
            <a:r>
              <a:rPr lang="fr-FR" dirty="0"/>
              <a:t>Utilisé dans : </a:t>
            </a:r>
          </a:p>
          <a:p>
            <a:pPr lvl="1"/>
            <a:r>
              <a:rPr lang="fr-FR" b="1" dirty="0"/>
              <a:t>serveurs web</a:t>
            </a:r>
            <a:endParaRPr lang="fr-FR" dirty="0"/>
          </a:p>
          <a:p>
            <a:pPr lvl="1"/>
            <a:r>
              <a:rPr lang="fr-FR" dirty="0"/>
              <a:t>systèmes </a:t>
            </a:r>
            <a:r>
              <a:rPr lang="fr-FR" b="1" dirty="0"/>
              <a:t>distribués</a:t>
            </a:r>
            <a:r>
              <a:rPr lang="fr-FR" dirty="0"/>
              <a:t> / temps réel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6471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57386C-3B6B-1B5D-9C0C-09FD7258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style fonctionnel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7D6115-6072-8697-9636-28E48F49C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pseudo-code :</a:t>
            </a:r>
            <a:endParaRPr lang="fr-FR" dirty="0"/>
          </a:p>
          <a:p>
            <a:r>
              <a:rPr lang="fr-FR" dirty="0"/>
              <a:t>Liste : [1, 2, 3, 4]</a:t>
            </a:r>
          </a:p>
          <a:p>
            <a:r>
              <a:rPr lang="fr-FR" dirty="0" err="1"/>
              <a:t>map</a:t>
            </a:r>
            <a:r>
              <a:rPr lang="fr-FR" dirty="0"/>
              <a:t>(x → x * 2, [1, 2, 3, 4]) → [2, 4, 6, 8]</a:t>
            </a:r>
          </a:p>
          <a:p>
            <a:r>
              <a:rPr lang="fr-FR" dirty="0" err="1"/>
              <a:t>filter</a:t>
            </a:r>
            <a:r>
              <a:rPr lang="fr-FR" dirty="0"/>
              <a:t>(x → x est pair, [1, 2, 3, 4]) → [2, 4]</a:t>
            </a:r>
          </a:p>
          <a:p>
            <a:pPr marL="0" indent="0">
              <a:buNone/>
            </a:pPr>
            <a:r>
              <a:rPr lang="fr-FR" b="1" dirty="0"/>
              <a:t>Idées clés :</a:t>
            </a:r>
            <a:endParaRPr lang="fr-FR" dirty="0"/>
          </a:p>
          <a:p>
            <a:r>
              <a:rPr lang="fr-FR" dirty="0"/>
              <a:t>on applique des </a:t>
            </a:r>
            <a:r>
              <a:rPr lang="fr-FR" b="1" dirty="0"/>
              <a:t>fonctions</a:t>
            </a:r>
            <a:r>
              <a:rPr lang="fr-FR" dirty="0"/>
              <a:t> aux données</a:t>
            </a:r>
          </a:p>
          <a:p>
            <a:r>
              <a:rPr lang="fr-FR" dirty="0"/>
              <a:t>on ne modifie pas la liste d’origine</a:t>
            </a:r>
          </a:p>
          <a:p>
            <a:r>
              <a:rPr lang="fr-FR" dirty="0"/>
              <a:t>style </a:t>
            </a:r>
            <a:r>
              <a:rPr lang="fr-FR" b="1" dirty="0"/>
              <a:t>déclaratif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0718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7CAF45-AD42-2776-8F99-3B019EED9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Où utilise-t-on les langages fonctionnels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199C86-6F26-2321-7852-903739127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Big data</a:t>
            </a:r>
            <a:r>
              <a:rPr lang="fr-FR" dirty="0"/>
              <a:t> / traitement de données </a:t>
            </a:r>
          </a:p>
          <a:p>
            <a:pPr lvl="1"/>
            <a:r>
              <a:rPr lang="fr-FR" dirty="0"/>
              <a:t>ex : Scala + Spark</a:t>
            </a:r>
          </a:p>
          <a:p>
            <a:r>
              <a:rPr lang="fr-FR" b="1" dirty="0"/>
              <a:t>Finance / banque</a:t>
            </a:r>
            <a:endParaRPr lang="fr-FR" dirty="0"/>
          </a:p>
          <a:p>
            <a:pPr lvl="1"/>
            <a:r>
              <a:rPr lang="fr-FR" dirty="0" err="1"/>
              <a:t>OCaml</a:t>
            </a:r>
            <a:r>
              <a:rPr lang="fr-FR" dirty="0"/>
              <a:t>, Haskell pour calculs critiques</a:t>
            </a:r>
          </a:p>
          <a:p>
            <a:r>
              <a:rPr lang="fr-FR" b="1" dirty="0"/>
              <a:t>Systèmes distribués / serveurs web</a:t>
            </a:r>
            <a:endParaRPr lang="fr-FR" dirty="0"/>
          </a:p>
          <a:p>
            <a:pPr lvl="1"/>
            <a:r>
              <a:rPr lang="fr-FR" dirty="0"/>
              <a:t>Elixir / Erlang</a:t>
            </a:r>
          </a:p>
          <a:p>
            <a:r>
              <a:rPr lang="fr-FR" b="1" dirty="0"/>
              <a:t>Compilateurs / vérification</a:t>
            </a:r>
            <a:endParaRPr lang="fr-FR" dirty="0"/>
          </a:p>
          <a:p>
            <a:pPr lvl="1"/>
            <a:r>
              <a:rPr lang="fr-FR" dirty="0"/>
              <a:t>outils d’analyse de code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7604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B95FB-529B-9264-B19C-5ED4C156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ces domaines-là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420426-B1D9-5AF0-6591-8A0B6D92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Fiabilité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moins de bugs liés à l’état</a:t>
            </a:r>
          </a:p>
          <a:p>
            <a:r>
              <a:rPr lang="fr-FR" b="1" dirty="0"/>
              <a:t>Parallélisme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immutabilité → calculs en parallèle plus simples</a:t>
            </a:r>
          </a:p>
          <a:p>
            <a:r>
              <a:rPr lang="fr-FR" b="1" dirty="0"/>
              <a:t>Maintenance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code plus </a:t>
            </a:r>
            <a:r>
              <a:rPr lang="fr-FR" b="1" dirty="0"/>
              <a:t>déclaratif</a:t>
            </a:r>
            <a:r>
              <a:rPr lang="fr-FR" dirty="0"/>
              <a:t>, plus lisible</a:t>
            </a:r>
          </a:p>
          <a:p>
            <a:r>
              <a:rPr lang="fr-FR" b="1" dirty="0"/>
              <a:t>Performance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optimisations facilitées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2237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BB188-412D-0258-892E-397E92D49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Mini-quiz : testez-vous 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C8E702-6A78-F4CC-B82F-CB923A090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Q1 – Vrai/Faux :</a:t>
            </a:r>
            <a:br>
              <a:rPr lang="fr-FR" dirty="0"/>
            </a:br>
            <a:r>
              <a:rPr lang="fr-FR" dirty="0"/>
              <a:t>“En programmation fonctionnelle, on évite de modifier les variables.”</a:t>
            </a:r>
          </a:p>
          <a:p>
            <a:r>
              <a:rPr lang="fr-FR" dirty="0"/>
              <a:t>Q2 – Vrai/Faux :</a:t>
            </a:r>
            <a:br>
              <a:rPr lang="fr-FR" dirty="0"/>
            </a:br>
            <a:r>
              <a:rPr lang="fr-FR" dirty="0"/>
              <a:t>“Une fonction pure peut donner des résultats différents avec les mêmes paramètres.”</a:t>
            </a:r>
          </a:p>
          <a:p>
            <a:r>
              <a:rPr lang="fr-FR" dirty="0"/>
              <a:t>Q3 – Question ouverte :</a:t>
            </a:r>
            <a:br>
              <a:rPr lang="fr-FR" dirty="0"/>
            </a:br>
            <a:r>
              <a:rPr lang="fr-FR" dirty="0"/>
              <a:t>“Citez un langage fonctionnel que nous avons présenté.”</a:t>
            </a:r>
          </a:p>
          <a:p>
            <a:r>
              <a:rPr lang="fr-FR" dirty="0"/>
              <a:t>Q4 – Question ouverte :</a:t>
            </a:r>
            <a:br>
              <a:rPr lang="fr-FR" dirty="0"/>
            </a:br>
            <a:r>
              <a:rPr lang="fr-FR" dirty="0"/>
              <a:t>“Citez un domaine où ces langages sont utilisés.”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6772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A24643-AF2C-28C0-D31D-904BA994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2F8212-B9FB-B9C7-2BFC-D32F07A30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Langages fonctionnels : </a:t>
            </a:r>
          </a:p>
          <a:p>
            <a:pPr lvl="1"/>
            <a:r>
              <a:rPr lang="fr-FR" dirty="0"/>
              <a:t>centrés sur les </a:t>
            </a:r>
            <a:r>
              <a:rPr lang="fr-FR" b="1" dirty="0"/>
              <a:t>fonctions</a:t>
            </a:r>
            <a:endParaRPr lang="fr-FR" dirty="0"/>
          </a:p>
          <a:p>
            <a:pPr lvl="1"/>
            <a:r>
              <a:rPr lang="fr-FR" b="1" dirty="0"/>
              <a:t>immutabilité</a:t>
            </a:r>
            <a:r>
              <a:rPr lang="fr-FR" dirty="0"/>
              <a:t>, </a:t>
            </a:r>
            <a:r>
              <a:rPr lang="fr-FR" b="1" dirty="0"/>
              <a:t>fonctions pures</a:t>
            </a:r>
            <a:r>
              <a:rPr lang="fr-FR" dirty="0"/>
              <a:t>, fonctions d’ordre supérieur</a:t>
            </a:r>
          </a:p>
          <a:p>
            <a:r>
              <a:rPr lang="fr-FR" dirty="0"/>
              <a:t>Avantages : </a:t>
            </a:r>
          </a:p>
          <a:p>
            <a:pPr lvl="1"/>
            <a:r>
              <a:rPr lang="fr-FR" dirty="0"/>
              <a:t>code </a:t>
            </a:r>
            <a:r>
              <a:rPr lang="fr-FR" b="1" dirty="0"/>
              <a:t>prévisible</a:t>
            </a:r>
            <a:r>
              <a:rPr lang="fr-FR" dirty="0"/>
              <a:t>, </a:t>
            </a:r>
            <a:r>
              <a:rPr lang="fr-FR" b="1" dirty="0"/>
              <a:t>testable</a:t>
            </a:r>
            <a:r>
              <a:rPr lang="fr-FR" dirty="0"/>
              <a:t>, adapté au </a:t>
            </a:r>
            <a:r>
              <a:rPr lang="fr-FR" b="1" dirty="0"/>
              <a:t>parallélisme</a:t>
            </a:r>
            <a:endParaRPr lang="fr-FR" dirty="0"/>
          </a:p>
          <a:p>
            <a:r>
              <a:rPr lang="fr-FR" dirty="0"/>
              <a:t>Utilisation : </a:t>
            </a:r>
          </a:p>
          <a:p>
            <a:pPr lvl="1"/>
            <a:r>
              <a:rPr lang="fr-FR" b="1" dirty="0"/>
              <a:t>big data</a:t>
            </a:r>
            <a:r>
              <a:rPr lang="fr-FR" dirty="0"/>
              <a:t>, </a:t>
            </a:r>
            <a:r>
              <a:rPr lang="fr-FR" b="1" dirty="0"/>
              <a:t>finance</a:t>
            </a:r>
            <a:r>
              <a:rPr lang="fr-FR" dirty="0"/>
              <a:t>, </a:t>
            </a:r>
            <a:r>
              <a:rPr lang="fr-FR" b="1" dirty="0"/>
              <a:t>serveurs web</a:t>
            </a:r>
            <a:r>
              <a:rPr lang="fr-FR" dirty="0"/>
              <a:t>, </a:t>
            </a:r>
            <a:r>
              <a:rPr lang="fr-FR" b="1" dirty="0"/>
              <a:t>outils de vérification</a:t>
            </a:r>
            <a:endParaRPr lang="fr-FR" dirty="0"/>
          </a:p>
          <a:p>
            <a:r>
              <a:rPr lang="fr-FR"/>
              <a:t>Complètent la </a:t>
            </a:r>
            <a:r>
              <a:rPr lang="fr-FR" b="1"/>
              <a:t>POO</a:t>
            </a:r>
            <a:r>
              <a:rPr lang="fr-FR"/>
              <a:t>, ne la remplacent pas</a:t>
            </a:r>
          </a:p>
          <a:p>
            <a:pPr marL="0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461397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Cadrage</Template>
  <TotalTime>8</TotalTime>
  <Words>733</Words>
  <Application>Microsoft Macintosh PowerPoint</Application>
  <PresentationFormat>Grand écran</PresentationFormat>
  <Paragraphs>146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1" baseType="lpstr">
      <vt:lpstr>Franklin Gothic Book</vt:lpstr>
      <vt:lpstr>Cadrage</vt:lpstr>
      <vt:lpstr>Les langages fonctionnels</vt:lpstr>
      <vt:lpstr>Contexte : différents paradigmes</vt:lpstr>
      <vt:lpstr>Qu’est-ce qu’un langage fonctionnel ?</vt:lpstr>
      <vt:lpstr>Pourquoi les langages fonctionnels sont importants ?</vt:lpstr>
      <vt:lpstr>Immutabilité</vt:lpstr>
      <vt:lpstr>Fonctions pures</vt:lpstr>
      <vt:lpstr>Fonctions d’ordre supérieur</vt:lpstr>
      <vt:lpstr>Récursion et transparence référentielle</vt:lpstr>
      <vt:lpstr>Programmation fonctionnelle vs POO</vt:lpstr>
      <vt:lpstr>Quelques langages fonctionnels</vt:lpstr>
      <vt:lpstr>Haskell</vt:lpstr>
      <vt:lpstr>OCaml</vt:lpstr>
      <vt:lpstr>Scala</vt:lpstr>
      <vt:lpstr>Elixir</vt:lpstr>
      <vt:lpstr>Exemple de style fonctionnel</vt:lpstr>
      <vt:lpstr>Où utilise-t-on les langages fonctionnels ?</vt:lpstr>
      <vt:lpstr>Pourquoi ces domaines-là ?</vt:lpstr>
      <vt:lpstr>Mini-quiz : testez-vous !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BOUTAOUZA Yassine</dc:creator>
  <cp:lastModifiedBy>BOUTAOUZA Yassine</cp:lastModifiedBy>
  <cp:revision>1</cp:revision>
  <dcterms:created xsi:type="dcterms:W3CDTF">2025-11-14T14:50:59Z</dcterms:created>
  <dcterms:modified xsi:type="dcterms:W3CDTF">2025-11-14T14:59:49Z</dcterms:modified>
</cp:coreProperties>
</file>